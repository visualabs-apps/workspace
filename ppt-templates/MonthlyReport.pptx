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jpeg" ContentType="image/jpeg"/>
  <Default Extension="rels" ContentType="application/vnd.openxmlformats-package.relationships+xml"/>
  <Default Extension="png" ContentType="image/png"/>
  <Default Extension="wmf" ContentType="image/x-wmf"/>
  <Default Extension="svg" ContentType="image/svg+xml"/>
  <Default Extension="xlsx" ContentType="application/vnd.openxmlformats-officedocument.spreadsheetml.sheet"/>
  <Default Extension="xml" ContentType="application/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>
  <p:sldMasterIdLst>
    <p:sldMasterId id="2147483648" r:id="rId1"/>
  </p:sldMasterIdLst>
  <p:notesMasterIdLst>
    <p:notesMasterId r:id="rId2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>
        <p:scale>
          <a:sx n="54" d="12177128"/>
          <a:sy n="1989151228" d="1835104368"/>
        </p:scale>
        <p:origin x="1718642541" y="1685600686"/>
      </p:cViewPr>
      <p:guideLst>
        <p:guide pos="2880"/>
        <p:guide pos="162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 /><Relationship Id="rId23" Type="http://schemas.openxmlformats.org/officeDocument/2006/relationships/tableStyles" Target="tableStyles.xml" /><Relationship Id="rId2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269902-768D-AE22-D80E-1C58A3EC2A4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2C1CFC-0E3C-D2C9-EE94-6DF2DC3AA2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768921-0CD9-FF67-4BCC-4F1762F1F8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72BF843-22B2-FE00-F65F-279E34B071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C1B46D-7730-4EB2-05A9-96B6A088ED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125D72-4DC1-CB6C-D087-8057FF7231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382245-B656-0373-E195-7EB178A259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BFE9EA-96E4-C0E8-19B1-223E4A3ACD9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A6938F-FE0F-93F4-147D-D48C864C68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4B085A-D966-862B-D1F4-E59FB9DA882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5F059E-E9DD-C08A-FFBF-7263C9FBDD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B9E0BF-B6B9-AE66-6DFF-D5FE2653B90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23D697-475B-3255-FFD2-4C221D5F67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07A265-3348-B3F8-39F8-94A254CFDB7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C74D4B-903A-4A25-F113-C2B690390C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ADBC2A-053B-F26B-BC2A-38A7E145A9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AA824C-7750-327B-B202-051464A8473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595080" name="PlaceHolder 1"/>
          <p:cNvSpPr>
            <a:spLocks noGrp="1"/>
          </p:cNvSpPr>
          <p:nvPr>
            <p:ph type="title"/>
          </p:nvPr>
        </p:nvSpPr>
        <p:spPr bwMode="auto">
          <a:xfrm>
            <a:off x="685800" y="2130480"/>
            <a:ext cx="7772039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41400029" name="PlaceHolder 2"/>
          <p:cNvSpPr>
            <a:spLocks noGrp="1"/>
          </p:cNvSpPr>
          <p:nvPr>
            <p:ph type="dt" idx="1"/>
          </p:nvPr>
        </p:nvSpPr>
        <p:spPr bwMode="auto"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defRPr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4184017" name="PlaceHolder 3"/>
          <p:cNvSpPr>
            <a:spLocks noGrp="1"/>
          </p:cNvSpPr>
          <p:nvPr>
            <p:ph type="ftr" idx="2"/>
          </p:nvPr>
        </p:nvSpPr>
        <p:spPr bwMode="auto"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6532774" name="PlaceHolder 4"/>
          <p:cNvSpPr>
            <a:spLocks noGrp="1"/>
          </p:cNvSpPr>
          <p:nvPr>
            <p:ph type="sldNum" idx="3"/>
          </p:nvPr>
        </p:nvSpPr>
        <p:spPr bwMode="auto"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F6D5F152-B1D2-41F4-B1D5-204EED60F7D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480859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7197989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5711497" name="PlaceHolder 3"/>
          <p:cNvSpPr>
            <a:spLocks noGrp="1"/>
          </p:cNvSpPr>
          <p:nvPr>
            <p:ph type="dt" idx="4"/>
          </p:nvPr>
        </p:nvSpPr>
        <p:spPr bwMode="auto"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defRPr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450821" name="PlaceHolder 4"/>
          <p:cNvSpPr>
            <a:spLocks noGrp="1"/>
          </p:cNvSpPr>
          <p:nvPr>
            <p:ph type="ftr" idx="5"/>
          </p:nvPr>
        </p:nvSpPr>
        <p:spPr bwMode="auto"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2734276" name="PlaceHolder 5"/>
          <p:cNvSpPr>
            <a:spLocks noGrp="1"/>
          </p:cNvSpPr>
          <p:nvPr>
            <p:ph type="sldNum" idx="6"/>
          </p:nvPr>
        </p:nvSpPr>
        <p:spPr bwMode="auto"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5C59572A-0A64-42F9-997D-FB96E060082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750642" name="PlaceHolder 1"/>
          <p:cNvSpPr>
            <a:spLocks noGrp="1"/>
          </p:cNvSpPr>
          <p:nvPr>
            <p:ph type="title"/>
          </p:nvPr>
        </p:nvSpPr>
        <p:spPr bwMode="auto"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3283840" name="PlaceHolder 2"/>
          <p:cNvSpPr>
            <a:spLocks noGrp="1"/>
          </p:cNvSpPr>
          <p:nvPr>
            <p:ph type="body"/>
          </p:nvPr>
        </p:nvSpPr>
        <p:spPr bwMode="auto"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36360917" name="PlaceHolder 3"/>
          <p:cNvSpPr>
            <a:spLocks noGrp="1"/>
          </p:cNvSpPr>
          <p:nvPr>
            <p:ph type="dt" idx="7"/>
          </p:nvPr>
        </p:nvSpPr>
        <p:spPr bwMode="auto"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defRPr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1903033" name="PlaceHolder 4"/>
          <p:cNvSpPr>
            <a:spLocks noGrp="1"/>
          </p:cNvSpPr>
          <p:nvPr>
            <p:ph type="ftr" idx="8"/>
          </p:nvPr>
        </p:nvSpPr>
        <p:spPr bwMode="auto"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2967963" name="PlaceHolder 5"/>
          <p:cNvSpPr>
            <a:spLocks noGrp="1"/>
          </p:cNvSpPr>
          <p:nvPr>
            <p:ph type="sldNum" idx="9"/>
          </p:nvPr>
        </p:nvSpPr>
        <p:spPr bwMode="auto"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BCB7ADFA-CE5C-4F31-BCEE-04D1E5F076F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849251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5675898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32804143" name="PlaceHolder 3"/>
          <p:cNvSpPr>
            <a:spLocks noGrp="1"/>
          </p:cNvSpPr>
          <p:nvPr>
            <p:ph type="dt" idx="10"/>
          </p:nvPr>
        </p:nvSpPr>
        <p:spPr bwMode="auto"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defRPr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6290799" name="PlaceHolder 4"/>
          <p:cNvSpPr>
            <a:spLocks noGrp="1"/>
          </p:cNvSpPr>
          <p:nvPr>
            <p:ph type="ftr" idx="11"/>
          </p:nvPr>
        </p:nvSpPr>
        <p:spPr bwMode="auto"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0058601" name="PlaceHolder 5"/>
          <p:cNvSpPr>
            <a:spLocks noGrp="1"/>
          </p:cNvSpPr>
          <p:nvPr>
            <p:ph type="sldNum" idx="12"/>
          </p:nvPr>
        </p:nvSpPr>
        <p:spPr bwMode="auto"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40BACA57-3D11-4AFB-BBB2-27F499BAB4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Section Header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68667" name="PlaceHolder 1"/>
          <p:cNvSpPr>
            <a:spLocks noGrp="1"/>
          </p:cNvSpPr>
          <p:nvPr>
            <p:ph type="title"/>
          </p:nvPr>
        </p:nvSpPr>
        <p:spPr bwMode="auto">
          <a:xfrm>
            <a:off x="722160" y="4406760"/>
            <a:ext cx="7772039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defRPr/>
            </a:pPr>
            <a:r>
              <a:rPr lang="en-US" sz="4000" b="1" u="none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01364291" name="PlaceHolder 2"/>
          <p:cNvSpPr>
            <a:spLocks noGrp="1"/>
          </p:cNvSpPr>
          <p:nvPr>
            <p:ph type="body"/>
          </p:nvPr>
        </p:nvSpPr>
        <p:spPr bwMode="auto">
          <a:xfrm>
            <a:off x="722160" y="2906640"/>
            <a:ext cx="7772039" cy="149975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/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latin typeface="Calibri"/>
            </a:endParaRPr>
          </a:p>
        </p:txBody>
      </p:sp>
      <p:sp>
        <p:nvSpPr>
          <p:cNvPr id="891704689" name="PlaceHolder 3"/>
          <p:cNvSpPr>
            <a:spLocks noGrp="1"/>
          </p:cNvSpPr>
          <p:nvPr>
            <p:ph type="dt" idx="13"/>
          </p:nvPr>
        </p:nvSpPr>
        <p:spPr bwMode="auto"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defRPr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8291911" name="PlaceHolder 4"/>
          <p:cNvSpPr>
            <a:spLocks noGrp="1"/>
          </p:cNvSpPr>
          <p:nvPr>
            <p:ph type="ftr" idx="14"/>
          </p:nvPr>
        </p:nvSpPr>
        <p:spPr bwMode="auto"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0728918" name="PlaceHolder 5"/>
          <p:cNvSpPr>
            <a:spLocks noGrp="1"/>
          </p:cNvSpPr>
          <p:nvPr>
            <p:ph type="sldNum" idx="15"/>
          </p:nvPr>
        </p:nvSpPr>
        <p:spPr bwMode="auto"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E115C56C-5314-44D5-97D1-422FA99BD89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9394163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76160848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7831899" name="PlaceHolder 3"/>
          <p:cNvSpPr>
            <a:spLocks noGrp="1"/>
          </p:cNvSpPr>
          <p:nvPr>
            <p:ph type="body"/>
          </p:nvPr>
        </p:nvSpPr>
        <p:spPr bwMode="auto"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39898941" name="PlaceHolder 4"/>
          <p:cNvSpPr>
            <a:spLocks noGrp="1"/>
          </p:cNvSpPr>
          <p:nvPr>
            <p:ph type="dt" idx="16"/>
          </p:nvPr>
        </p:nvSpPr>
        <p:spPr bwMode="auto"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defRPr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4930648" name="PlaceHolder 5"/>
          <p:cNvSpPr>
            <a:spLocks noGrp="1"/>
          </p:cNvSpPr>
          <p:nvPr>
            <p:ph type="ftr" idx="17"/>
          </p:nvPr>
        </p:nvSpPr>
        <p:spPr bwMode="auto"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7506595" name="PlaceHolder 6"/>
          <p:cNvSpPr>
            <a:spLocks noGrp="1"/>
          </p:cNvSpPr>
          <p:nvPr>
            <p:ph type="sldNum" idx="18"/>
          </p:nvPr>
        </p:nvSpPr>
        <p:spPr bwMode="auto"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A21DC46D-8887-4AFA-BC28-1E5A309F517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Comparison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838186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51728821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/>
            </a:pPr>
            <a:r>
              <a:rPr lang="en-US" sz="2400" b="1" u="none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2882298" name="PlaceHolder 3"/>
          <p:cNvSpPr>
            <a:spLocks noGrp="1"/>
          </p:cNvSpPr>
          <p:nvPr>
            <p:ph type="body"/>
          </p:nvPr>
        </p:nvSpPr>
        <p:spPr bwMode="auto"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9030584" name="PlaceHolder 4"/>
          <p:cNvSpPr>
            <a:spLocks noGrp="1"/>
          </p:cNvSpPr>
          <p:nvPr>
            <p:ph type="body"/>
          </p:nvPr>
        </p:nvSpPr>
        <p:spPr bwMode="auto"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/>
            </a:pPr>
            <a:r>
              <a:rPr lang="en-US" sz="2400" b="1" u="none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31165639" name="PlaceHolder 5"/>
          <p:cNvSpPr>
            <a:spLocks noGrp="1"/>
          </p:cNvSpPr>
          <p:nvPr>
            <p:ph type="body"/>
          </p:nvPr>
        </p:nvSpPr>
        <p:spPr bwMode="auto"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6919943" name="PlaceHolder 6"/>
          <p:cNvSpPr>
            <a:spLocks noGrp="1"/>
          </p:cNvSpPr>
          <p:nvPr>
            <p:ph type="dt" idx="19"/>
          </p:nvPr>
        </p:nvSpPr>
        <p:spPr bwMode="auto"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defRPr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3847306" name="PlaceHolder 7"/>
          <p:cNvSpPr>
            <a:spLocks noGrp="1"/>
          </p:cNvSpPr>
          <p:nvPr>
            <p:ph type="ftr" idx="20"/>
          </p:nvPr>
        </p:nvSpPr>
        <p:spPr bwMode="auto"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758646" name="PlaceHolder 8"/>
          <p:cNvSpPr>
            <a:spLocks noGrp="1"/>
          </p:cNvSpPr>
          <p:nvPr>
            <p:ph type="sldNum" idx="21"/>
          </p:nvPr>
        </p:nvSpPr>
        <p:spPr bwMode="auto"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4D852CF6-6220-4768-9394-5C9814E8E9A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930771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6609270" name="PlaceHolder 2"/>
          <p:cNvSpPr>
            <a:spLocks noGrp="1"/>
          </p:cNvSpPr>
          <p:nvPr>
            <p:ph type="dt" idx="22"/>
          </p:nvPr>
        </p:nvSpPr>
        <p:spPr bwMode="auto"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defRPr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7932323" name="PlaceHolder 3"/>
          <p:cNvSpPr>
            <a:spLocks noGrp="1"/>
          </p:cNvSpPr>
          <p:nvPr>
            <p:ph type="ftr" idx="23"/>
          </p:nvPr>
        </p:nvSpPr>
        <p:spPr bwMode="auto"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6002757" name="PlaceHolder 4"/>
          <p:cNvSpPr>
            <a:spLocks noGrp="1"/>
          </p:cNvSpPr>
          <p:nvPr>
            <p:ph type="sldNum" idx="24"/>
          </p:nvPr>
        </p:nvSpPr>
        <p:spPr bwMode="auto"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CD060CC1-D617-47CC-BB21-AF942515AEF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0988449" name="PlaceHolder 1"/>
          <p:cNvSpPr>
            <a:spLocks noGrp="1"/>
          </p:cNvSpPr>
          <p:nvPr>
            <p:ph type="dt" idx="25"/>
          </p:nvPr>
        </p:nvSpPr>
        <p:spPr bwMode="auto"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defRPr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0957351" name="PlaceHolder 2"/>
          <p:cNvSpPr>
            <a:spLocks noGrp="1"/>
          </p:cNvSpPr>
          <p:nvPr>
            <p:ph type="ftr" idx="26"/>
          </p:nvPr>
        </p:nvSpPr>
        <p:spPr bwMode="auto"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2224677" name="PlaceHolder 3"/>
          <p:cNvSpPr>
            <a:spLocks noGrp="1"/>
          </p:cNvSpPr>
          <p:nvPr>
            <p:ph type="sldNum" idx="27"/>
          </p:nvPr>
        </p:nvSpPr>
        <p:spPr bwMode="auto"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3A7359CC-DAE2-4F67-B011-B375645C1B3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8180625" name="PlaceHolder 4"/>
          <p:cNvSpPr>
            <a:spLocks noGrp="1"/>
          </p:cNvSpPr>
          <p:nvPr>
            <p:ph type="title"/>
          </p:nvPr>
        </p:nvSpPr>
        <p:spPr bwMode="auto"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l">
              <a:buNone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1855908" name="PlaceHolder 5"/>
          <p:cNvSpPr>
            <a:spLocks noGrp="1"/>
          </p:cNvSpPr>
          <p:nvPr>
            <p:ph type="body"/>
          </p:nvPr>
        </p:nvSpPr>
        <p:spPr bwMode="auto"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3200" b="0" u="none" strike="noStrike">
                <a:solidFill>
                  <a:schemeClr val="dk1"/>
                </a:solidFill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lang="en-US" sz="2400" b="0" u="none" strike="noStrike">
                <a:solidFill>
                  <a:schemeClr val="dk1"/>
                </a:solidFill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chemeClr val="dk1"/>
                </a:solidFill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lang="en-US" sz="2000" b="0" u="none" strike="noStrike">
                <a:solidFill>
                  <a:schemeClr val="dk1"/>
                </a:solidFill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chemeClr val="dk1"/>
                </a:solidFill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chemeClr val="dk1"/>
                </a:solidFill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chemeClr val="dk1"/>
                </a:solidFill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Content with Caption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699919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defRPr/>
            </a:pPr>
            <a:r>
              <a:rPr lang="en-US" sz="2000" b="1" u="none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91432164" name="PlaceHolder 2"/>
          <p:cNvSpPr>
            <a:spLocks noGrp="1"/>
          </p:cNvSpPr>
          <p:nvPr>
            <p:ph type="body"/>
          </p:nvPr>
        </p:nvSpPr>
        <p:spPr bwMode="auto"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36620665" name="PlaceHolder 3"/>
          <p:cNvSpPr>
            <a:spLocks noGrp="1"/>
          </p:cNvSpPr>
          <p:nvPr>
            <p:ph type="body"/>
          </p:nvPr>
        </p:nvSpPr>
        <p:spPr bwMode="auto"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27720093" name="PlaceHolder 4"/>
          <p:cNvSpPr>
            <a:spLocks noGrp="1"/>
          </p:cNvSpPr>
          <p:nvPr>
            <p:ph type="dt" idx="28"/>
          </p:nvPr>
        </p:nvSpPr>
        <p:spPr bwMode="auto"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defRPr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7958252" name="PlaceHolder 5"/>
          <p:cNvSpPr>
            <a:spLocks noGrp="1"/>
          </p:cNvSpPr>
          <p:nvPr>
            <p:ph type="ftr" idx="29"/>
          </p:nvPr>
        </p:nvSpPr>
        <p:spPr bwMode="auto"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347182" name="PlaceHolder 6"/>
          <p:cNvSpPr>
            <a:spLocks noGrp="1"/>
          </p:cNvSpPr>
          <p:nvPr>
            <p:ph type="sldNum" idx="30"/>
          </p:nvPr>
        </p:nvSpPr>
        <p:spPr bwMode="auto"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62969F9D-03B7-40C2-B7B9-36A326A17C6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Picture with Caption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7455727" name="PlaceHolder 1"/>
          <p:cNvSpPr>
            <a:spLocks noGrp="1"/>
          </p:cNvSpPr>
          <p:nvPr>
            <p:ph type="title"/>
          </p:nvPr>
        </p:nvSpPr>
        <p:spPr bwMode="auto">
          <a:xfrm>
            <a:off x="1792440" y="4800600"/>
            <a:ext cx="5486039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defRPr/>
            </a:pPr>
            <a:r>
              <a:rPr lang="en-US" sz="2000" b="1" u="none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22889189" name="PlaceHolder 2"/>
          <p:cNvSpPr>
            <a:spLocks noGrp="1"/>
          </p:cNvSpPr>
          <p:nvPr>
            <p:ph type="body"/>
          </p:nvPr>
        </p:nvSpPr>
        <p:spPr bwMode="auto">
          <a:xfrm>
            <a:off x="1792440" y="612720"/>
            <a:ext cx="5486039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latin typeface="Calibri"/>
              </a:defRPr>
            </a:lvl1pPr>
            <a:lvl2pPr lvl="1" algn="l" defTabSz="9144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latin typeface="Calibri"/>
              </a:defRPr>
            </a:lvl2pPr>
            <a:lvl3pPr lvl="2" algn="l" defTabSz="9144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latin typeface="Calibri"/>
              </a:defRPr>
            </a:lvl3pPr>
            <a:lvl4pPr lvl="3" algn="l" defTabSz="9144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latin typeface="Calibri"/>
              </a:defRPr>
            </a:lvl4pPr>
            <a:lvl5pPr lvl="4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latin typeface="Calibri"/>
            </a:endParaRPr>
          </a:p>
          <a:p>
            <a:pPr marL="457200" lvl="1" algn="l" defTabSz="9144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latin typeface="Calibri"/>
            </a:endParaRPr>
          </a:p>
          <a:p>
            <a:pPr marL="914400" lvl="2" algn="l" defTabSz="9144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latin typeface="Calibri"/>
            </a:endParaRPr>
          </a:p>
          <a:p>
            <a:pPr marL="1371600" lvl="3" algn="l" defTabSz="9144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latin typeface="Calibri"/>
            </a:endParaRPr>
          </a:p>
          <a:p>
            <a:pPr marL="1828800" lvl="4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2700595" name="PlaceHolder 3"/>
          <p:cNvSpPr>
            <a:spLocks noGrp="1"/>
          </p:cNvSpPr>
          <p:nvPr>
            <p:ph type="body"/>
          </p:nvPr>
        </p:nvSpPr>
        <p:spPr bwMode="auto">
          <a:xfrm>
            <a:off x="1792440" y="5367240"/>
            <a:ext cx="5486039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45296266" name="PlaceHolder 4"/>
          <p:cNvSpPr>
            <a:spLocks noGrp="1"/>
          </p:cNvSpPr>
          <p:nvPr>
            <p:ph type="dt" idx="31"/>
          </p:nvPr>
        </p:nvSpPr>
        <p:spPr bwMode="auto"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defRPr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3317821" name="PlaceHolder 5"/>
          <p:cNvSpPr>
            <a:spLocks noGrp="1"/>
          </p:cNvSpPr>
          <p:nvPr>
            <p:ph type="ftr" idx="32"/>
          </p:nvPr>
        </p:nvSpPr>
        <p:spPr bwMode="auto"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9621319" name="PlaceHolder 6"/>
          <p:cNvSpPr>
            <a:spLocks noGrp="1"/>
          </p:cNvSpPr>
          <p:nvPr>
            <p:ph type="sldNum" idx="33"/>
          </p:nvPr>
        </p:nvSpPr>
        <p:spPr bwMode="auto"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4236199C-8E75-47C9-BD04-D15E671A362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media1.svg"/><Relationship Id="rId5" Type="http://schemas.openxmlformats.org/officeDocument/2006/relationships/image" Target="../media/image2.png"/><Relationship Id="rId6" Type="http://schemas.openxmlformats.org/officeDocument/2006/relationships/image" Target="../media/media2.svg"/><Relationship Id="rId7" Type="http://schemas.openxmlformats.org/officeDocument/2006/relationships/image" Target="../media/image3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package" Target="../embeddings/Microsoft_Excel_Worksheet1.xlsx"/><Relationship Id="rId5" Type="http://schemas.openxmlformats.org/officeDocument/2006/relationships/image" Target="../media/image9.png"/><Relationship Id="rId6" Type="http://schemas.openxmlformats.org/officeDocument/2006/relationships/package" Target="../embeddings/Microsoft_Excel_Worksheet2.xlsx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package" Target="../embeddings/Microsoft_Excel_Worksheet3.xlsx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png"/><Relationship Id="rId4" Type="http://schemas.openxmlformats.org/officeDocument/2006/relationships/image" Target="../media/media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335380" name="Freeform 2"/>
          <p:cNvSpPr/>
          <p:nvPr/>
        </p:nvSpPr>
        <p:spPr bwMode="auto">
          <a:xfrm>
            <a:off x="756720" y="748080"/>
            <a:ext cx="4108320" cy="2656800"/>
          </a:xfrm>
          <a:custGeom>
            <a:avLst/>
            <a:gdLst>
              <a:gd name="textAreaLeft" fmla="*/ 0 w 4108320"/>
              <a:gd name="textAreaRight" fmla="*/ 4108680 w 4108320"/>
              <a:gd name="textAreaTop" fmla="*/ 0 h 2656800"/>
              <a:gd name="textAreaBottom" fmla="*/ 2657160 h 2656800"/>
            </a:gdLst>
            <a:ahLst/>
            <a:cxnLst/>
            <a:rect l="textAreaLeft" t="textAreaTop" r="textAreaRight" b="textAreaBottom"/>
            <a:pathLst>
              <a:path w="4108533" h="2657199" fill="norm" stroke="1" extrusionOk="0">
                <a:moveTo>
                  <a:pt x="0" y="0"/>
                </a:moveTo>
                <a:lnTo>
                  <a:pt x="4108532" y="0"/>
                </a:lnTo>
                <a:lnTo>
                  <a:pt x="4108532" y="2657198"/>
                </a:lnTo>
                <a:lnTo>
                  <a:pt x="0" y="265719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324644" name="Freeform 3"/>
          <p:cNvSpPr/>
          <p:nvPr/>
        </p:nvSpPr>
        <p:spPr bwMode="auto">
          <a:xfrm>
            <a:off x="5116320" y="4382280"/>
            <a:ext cx="3406320" cy="140040"/>
          </a:xfrm>
          <a:custGeom>
            <a:avLst/>
            <a:gdLst>
              <a:gd name="textAreaLeft" fmla="*/ 0 w 3406320"/>
              <a:gd name="textAreaRight" fmla="*/ 3406680 w 3406320"/>
              <a:gd name="textAreaTop" fmla="*/ 0 h 140040"/>
              <a:gd name="textAreaBottom" fmla="*/ 140400 h 140040"/>
            </a:gdLst>
            <a:ahLst/>
            <a:cxnLst/>
            <a:rect l="textAreaLeft" t="textAreaTop" r="textAreaRight" b="textAreaBottom"/>
            <a:pathLst>
              <a:path w="3406797" h="140399" fill="norm" stroke="1" extrusionOk="0">
                <a:moveTo>
                  <a:pt x="0" y="0"/>
                </a:moveTo>
                <a:lnTo>
                  <a:pt x="3406797" y="0"/>
                </a:lnTo>
                <a:lnTo>
                  <a:pt x="3406797" y="140398"/>
                </a:lnTo>
                <a:lnTo>
                  <a:pt x="0" y="14039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156550" name="TextBox 4"/>
          <p:cNvSpPr/>
          <p:nvPr/>
        </p:nvSpPr>
        <p:spPr bwMode="auto">
          <a:xfrm>
            <a:off x="1083600" y="1128240"/>
            <a:ext cx="3540960" cy="24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799"/>
              </a:lnSpc>
              <a:defRPr/>
            </a:pPr>
            <a:r>
              <a:rPr lang="en-US" sz="4200" b="1" u="none" strike="noStrike">
                <a:solidFill>
                  <a:srgbClr val="FF7158"/>
                </a:solidFill>
                <a:latin typeface="Poppins Bold"/>
                <a:ea typeface="Poppins Bold"/>
              </a:rPr>
              <a:t>Monthly Report </a:t>
            </a:r>
            <a:endParaRPr lang="en-US" sz="42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799"/>
              </a:lnSpc>
              <a:defRPr/>
            </a:pPr>
            <a:r>
              <a:rPr lang="en-US" sz="4200" b="1" u="none" strike="noStrike">
                <a:solidFill>
                  <a:srgbClr val="CEBEA0"/>
                </a:solidFill>
                <a:latin typeface="Poppins Bold"/>
                <a:ea typeface="Poppins Bold"/>
              </a:rPr>
              <a:t>{{clientName}}</a:t>
            </a:r>
            <a:endParaRPr lang="en-US" sz="4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4843128" name="TextBox 5"/>
          <p:cNvSpPr/>
          <p:nvPr/>
        </p:nvSpPr>
        <p:spPr bwMode="auto">
          <a:xfrm>
            <a:off x="1030680" y="3610080"/>
            <a:ext cx="2743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520"/>
              </a:lnSpc>
              <a:defRPr/>
            </a:pPr>
            <a:r>
              <a:rPr lang="en-US" sz="1800" b="0" u="none" strike="noStrike">
                <a:solidFill>
                  <a:srgbClr val="35228B"/>
                </a:solidFill>
                <a:latin typeface="Open Sans 1"/>
                <a:ea typeface="Open Sans 1"/>
              </a:rPr>
              <a:t>{{MonthYear}}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818952" name="Freeform 6"/>
          <p:cNvSpPr/>
          <p:nvPr/>
        </p:nvSpPr>
        <p:spPr bwMode="auto">
          <a:xfrm>
            <a:off x="5448960" y="748080"/>
            <a:ext cx="2740680" cy="2740680"/>
          </a:xfrm>
          <a:custGeom>
            <a:avLst/>
            <a:gdLst>
              <a:gd name="textAreaLeft" fmla="*/ 0 w 2740680"/>
              <a:gd name="textAreaRight" fmla="*/ 2741040 w 2740680"/>
              <a:gd name="textAreaTop" fmla="*/ 0 h 2740680"/>
              <a:gd name="textAreaBottom" fmla="*/ 2741040 h 2740680"/>
            </a:gdLst>
            <a:ahLst/>
            <a:cxnLst/>
            <a:rect l="textAreaLeft" t="textAreaTop" r="textAreaRight" b="textAreaBottom"/>
            <a:pathLst>
              <a:path w="2741092" h="2741092" fill="norm" stroke="1" extrusionOk="0">
                <a:moveTo>
                  <a:pt x="0" y="0"/>
                </a:moveTo>
                <a:lnTo>
                  <a:pt x="2741091" y="0"/>
                </a:lnTo>
                <a:lnTo>
                  <a:pt x="2741091" y="2741091"/>
                </a:lnTo>
                <a:lnTo>
                  <a:pt x="0" y="274109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029087" name="Freeform 2"/>
          <p:cNvSpPr/>
          <p:nvPr/>
        </p:nvSpPr>
        <p:spPr bwMode="auto">
          <a:xfrm>
            <a:off x="0" y="777960"/>
            <a:ext cx="9143640" cy="139428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1394280"/>
              <a:gd name="textAreaBottom" fmla="*/ 1394640 h 1394280"/>
            </a:gdLst>
            <a:ahLst/>
            <a:cxnLst/>
            <a:rect l="textAreaLeft" t="textAreaTop" r="textAreaRight" b="textAreaBottom"/>
            <a:pathLst>
              <a:path w="9144000" h="1394460" fill="norm" stroke="1" extrusionOk="0">
                <a:moveTo>
                  <a:pt x="0" y="0"/>
                </a:moveTo>
                <a:lnTo>
                  <a:pt x="9144000" y="0"/>
                </a:lnTo>
                <a:lnTo>
                  <a:pt x="9144000" y="1394460"/>
                </a:lnTo>
                <a:lnTo>
                  <a:pt x="0" y="139446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8365110" name="Freeform 3"/>
          <p:cNvSpPr/>
          <p:nvPr/>
        </p:nvSpPr>
        <p:spPr bwMode="auto">
          <a:xfrm>
            <a:off x="0" y="3114720"/>
            <a:ext cx="9143640" cy="141696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1416960"/>
              <a:gd name="textAreaBottom" fmla="*/ 1417320 h 1416960"/>
            </a:gdLst>
            <a:ahLst/>
            <a:cxnLst/>
            <a:rect l="textAreaLeft" t="textAreaTop" r="textAreaRight" b="textAreaBottom"/>
            <a:pathLst>
              <a:path w="9144000" h="1417320" fill="norm" stroke="1" extrusionOk="0">
                <a:moveTo>
                  <a:pt x="0" y="0"/>
                </a:moveTo>
                <a:lnTo>
                  <a:pt x="9144000" y="0"/>
                </a:lnTo>
                <a:lnTo>
                  <a:pt x="9144000" y="1417320"/>
                </a:lnTo>
                <a:lnTo>
                  <a:pt x="0" y="141732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828144" name="TextBox 4"/>
          <p:cNvSpPr/>
          <p:nvPr/>
        </p:nvSpPr>
        <p:spPr bwMode="auto">
          <a:xfrm>
            <a:off x="756720" y="152280"/>
            <a:ext cx="7630200" cy="53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201"/>
              </a:lnSpc>
              <a:defRPr/>
            </a:pPr>
            <a:r>
              <a:rPr lang="en-US" sz="3000" b="1" u="none" strike="noStrike">
                <a:solidFill>
                  <a:srgbClr val="FF7158"/>
                </a:solidFill>
                <a:latin typeface="Poppins Bold"/>
                <a:ea typeface="Poppins Bold"/>
              </a:rPr>
              <a:t>Weekly </a:t>
            </a:r>
            <a:r>
              <a:rPr lang="en-US" sz="3000" b="1" u="none" strike="noStrike">
                <a:solidFill>
                  <a:srgbClr val="35228B"/>
                </a:solidFill>
                <a:latin typeface="Poppins Bold"/>
                <a:ea typeface="Poppins Bold"/>
              </a:rPr>
              <a:t>Performance {{week1perform}}</a:t>
            </a:r>
            <a:endParaRPr lang="en-US" sz="3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5174931" name="TextBox 5"/>
          <p:cNvSpPr/>
          <p:nvPr/>
        </p:nvSpPr>
        <p:spPr bwMode="auto">
          <a:xfrm>
            <a:off x="756720" y="2486160"/>
            <a:ext cx="7630200" cy="53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201"/>
              </a:lnSpc>
              <a:defRPr/>
            </a:pPr>
            <a:r>
              <a:rPr lang="en-US" sz="3000" b="1" u="none" strike="noStrike">
                <a:solidFill>
                  <a:srgbClr val="FF7158"/>
                </a:solidFill>
                <a:latin typeface="Poppins Bold"/>
                <a:ea typeface="Poppins Bold"/>
              </a:rPr>
              <a:t>Weekly </a:t>
            </a:r>
            <a:r>
              <a:rPr lang="en-US" sz="3000" b="1" u="none" strike="noStrike">
                <a:solidFill>
                  <a:srgbClr val="35228B"/>
                </a:solidFill>
                <a:latin typeface="Poppins Bold"/>
                <a:ea typeface="Poppins Bold"/>
              </a:rPr>
              <a:t>Performance {{</a:t>
            </a:r>
            <a:r>
              <a:rPr lang="en-US" sz="3000" b="1" u="none" strike="noStrike">
                <a:solidFill>
                  <a:srgbClr val="35228B"/>
                </a:solidFill>
                <a:latin typeface="Poppins Bold"/>
                <a:ea typeface="Poppins Bold"/>
              </a:rPr>
              <a:t>week2perform}}</a:t>
            </a:r>
            <a:endParaRPr lang="en-US" sz="30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663978" name="Freeform 2"/>
          <p:cNvSpPr/>
          <p:nvPr/>
        </p:nvSpPr>
        <p:spPr bwMode="auto">
          <a:xfrm>
            <a:off x="0" y="958680"/>
            <a:ext cx="9143640" cy="139428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1394280"/>
              <a:gd name="textAreaBottom" fmla="*/ 1394640 h 1394280"/>
            </a:gdLst>
            <a:ahLst/>
            <a:cxnLst/>
            <a:rect l="textAreaLeft" t="textAreaTop" r="textAreaRight" b="textAreaBottom"/>
            <a:pathLst>
              <a:path w="9144000" h="1394460" fill="norm" stroke="1" extrusionOk="0">
                <a:moveTo>
                  <a:pt x="0" y="0"/>
                </a:moveTo>
                <a:lnTo>
                  <a:pt x="9144000" y="0"/>
                </a:lnTo>
                <a:lnTo>
                  <a:pt x="9144000" y="1394460"/>
                </a:lnTo>
                <a:lnTo>
                  <a:pt x="0" y="139446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661796" name="Freeform 3"/>
          <p:cNvSpPr/>
          <p:nvPr/>
        </p:nvSpPr>
        <p:spPr bwMode="auto">
          <a:xfrm>
            <a:off x="0" y="3312000"/>
            <a:ext cx="9143640" cy="137124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1371240"/>
              <a:gd name="textAreaBottom" fmla="*/ 1371600 h 1371240"/>
            </a:gdLst>
            <a:ahLst/>
            <a:cxnLst/>
            <a:rect l="textAreaLeft" t="textAreaTop" r="textAreaRight" b="textAreaBottom"/>
            <a:pathLst>
              <a:path w="9144000" h="1371600" fill="norm" stroke="1" extrusionOk="0">
                <a:moveTo>
                  <a:pt x="0" y="0"/>
                </a:moveTo>
                <a:lnTo>
                  <a:pt x="9144000" y="0"/>
                </a:lnTo>
                <a:lnTo>
                  <a:pt x="91440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3294064" name="TextBox 4"/>
          <p:cNvSpPr/>
          <p:nvPr/>
        </p:nvSpPr>
        <p:spPr bwMode="auto">
          <a:xfrm>
            <a:off x="756720" y="317160"/>
            <a:ext cx="7630200" cy="5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201"/>
              </a:lnSpc>
              <a:defRPr/>
            </a:pPr>
            <a:r>
              <a:rPr lang="en-US" sz="3000" b="1" u="none" strike="noStrike">
                <a:solidFill>
                  <a:srgbClr val="FF7158"/>
                </a:solidFill>
                <a:latin typeface="Poppins Bold"/>
                <a:ea typeface="Poppins Bold"/>
              </a:rPr>
              <a:t>Monthly </a:t>
            </a:r>
            <a:r>
              <a:rPr lang="en-US" sz="3000" b="1" u="none" strike="noStrike">
                <a:solidFill>
                  <a:srgbClr val="35228B"/>
                </a:solidFill>
                <a:latin typeface="Poppins Bold"/>
                <a:ea typeface="Poppins Bold"/>
              </a:rPr>
              <a:t>Performance 22 Feb - 23 Mar</a:t>
            </a:r>
            <a:endParaRPr lang="en-US" sz="3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492438" name="TextBox 5"/>
          <p:cNvSpPr/>
          <p:nvPr/>
        </p:nvSpPr>
        <p:spPr bwMode="auto">
          <a:xfrm>
            <a:off x="756720" y="2674080"/>
            <a:ext cx="7630200" cy="5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201"/>
              </a:lnSpc>
              <a:defRPr/>
            </a:pPr>
            <a:r>
              <a:rPr lang="en-US" sz="3000" b="1" u="none" strike="noStrike">
                <a:solidFill>
                  <a:srgbClr val="FF7158"/>
                </a:solidFill>
                <a:latin typeface="Poppins Bold"/>
                <a:ea typeface="Poppins Bold"/>
              </a:rPr>
              <a:t>Monthly </a:t>
            </a:r>
            <a:r>
              <a:rPr lang="en-US" sz="3000" b="1" u="none" strike="noStrike">
                <a:solidFill>
                  <a:srgbClr val="35228B"/>
                </a:solidFill>
                <a:latin typeface="Poppins Bold"/>
                <a:ea typeface="Poppins Bold"/>
              </a:rPr>
              <a:t>Performance 25 Mar-23 April</a:t>
            </a:r>
            <a:endParaRPr lang="en-US" sz="30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804431214" name=""/>
          <p:cNvGraphicFramePr>
            <a:graphicFrameLocks xmlns:a="http://schemas.openxmlformats.org/drawingml/2006/main" noChangeAspect="1"/>
          </p:cNvGraphicFramePr>
          <p:nvPr/>
        </p:nvGraphicFramePr>
        <p:xfrm>
          <a:off x="1270080" y="1270080"/>
          <a:ext cx="1269720" cy="1269720"/>
        </p:xfrm>
        <a:graphic>
          <a:graphicData uri="http://schemas.openxmlformats.org/presentationml/2006/ole">
            <p:oleObj name="oleObj" r:id="rId4" imgW="0" imgH="0" progId="Excel.Sheet.12">
              <p:embed/>
              <p:pic>
                <p:nvPicPr>
                  <p:cNvPr id="1804431214" name=""/>
                  <p:cNvPicPr/>
                  <p:nvPr/>
                </p:nvPicPr>
                <p:blipFill rotWithShape="1">
                  <a:blip r:embed="rId3"/>
                  <a:stretch/>
                </p:blipFill>
                <p:spPr bwMode="auto">
                  <a:xfrm>
                    <a:off x="1270080" y="1270080"/>
                    <a:ext cx="1269720" cy="12697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1388385840" name=""/>
          <p:cNvGraphicFramePr>
            <a:graphicFrameLocks xmlns:a="http://schemas.openxmlformats.org/drawingml/2006/main" noChangeAspect="1"/>
          </p:cNvGraphicFramePr>
          <p:nvPr/>
        </p:nvGraphicFramePr>
        <p:xfrm flipH="0" flipV="0">
          <a:off x="-422129" y="-82314"/>
          <a:ext cx="9301573" cy="3680723"/>
        </p:xfrm>
        <a:graphic>
          <a:graphicData uri="http://schemas.openxmlformats.org/presentationml/2006/ole">
            <p:oleObj name="oleObj" r:id="rId6" imgW="0" imgH="0" progId="Excel.Sheet.12">
              <p:embed/>
              <p:pic>
                <p:nvPicPr>
                  <p:cNvPr id="1388385840" name=""/>
                  <p:cNvPicPr/>
                  <p:nvPr/>
                </p:nvPicPr>
                <p:blipFill rotWithShape="1">
                  <a:blip r:embed="rId5"/>
                  <a:stretch/>
                </p:blipFill>
                <p:spPr bwMode="auto">
                  <a:xfrm flipH="0" flipV="0">
                    <a:off x="-422129" y="-82314"/>
                    <a:ext cx="9301573" cy="3680723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394374937" name="TextBox 4"/>
          <p:cNvSpPr/>
          <p:nvPr/>
        </p:nvSpPr>
        <p:spPr bwMode="auto">
          <a:xfrm>
            <a:off x="44640" y="3897720"/>
            <a:ext cx="9054360" cy="103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1681"/>
              </a:lnSpc>
              <a:defRPr/>
            </a:pPr>
            <a:r>
              <a:rPr lang="en-US" sz="1200" b="0" u="none" strike="noStrike">
                <a:solidFill>
                  <a:srgbClr val="000000"/>
                </a:solidFill>
                <a:latin typeface="Open Sans 1"/>
                <a:ea typeface="Open Sans 1"/>
              </a:rPr>
              <a:t>Insight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  <a:p>
            <a:pPr marL="259200" lvl="1" indent="-129600" defTabSz="914400">
              <a:lnSpc>
                <a:spcPts val="1681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200" b="0" u="none" strike="noStrike">
                <a:solidFill>
                  <a:srgbClr val="000000"/>
                </a:solidFill>
                <a:latin typeface="Open Sans 1"/>
                <a:ea typeface="Open Sans 1"/>
              </a:rPr>
              <a:t>Secara bulanan, performa iklan menunjukkan pertumbuhan yang sangat baik, terutama dari sisi pesanan, produk terjual, dan omzet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  <a:p>
            <a:pPr marL="259200" lvl="1" indent="-129600" defTabSz="914400">
              <a:lnSpc>
                <a:spcPts val="1681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200" b="0" u="none" strike="noStrike">
                <a:solidFill>
                  <a:srgbClr val="000000"/>
                </a:solidFill>
                <a:latin typeface="Open Sans 1"/>
                <a:ea typeface="Open Sans 1"/>
              </a:rPr>
              <a:t>Growth terjadi secara konsisten di seluruh funnel (awareness → conversion)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  <a:p>
            <a:pPr marL="259200" lvl="1" indent="-129600" defTabSz="914400">
              <a:lnSpc>
                <a:spcPts val="1681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200" b="0" u="none" strike="noStrike">
                <a:solidFill>
                  <a:srgbClr val="000000"/>
                </a:solidFill>
                <a:latin typeface="Open Sans 1"/>
                <a:ea typeface="Open Sans 1"/>
              </a:rPr>
              <a:t>Iklan berada dalam fase growth &amp; siap untuk scaling secara bertahap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5061153" name="Freeform 2"/>
          <p:cNvSpPr/>
          <p:nvPr/>
        </p:nvSpPr>
        <p:spPr bwMode="auto">
          <a:xfrm>
            <a:off x="0" y="0"/>
            <a:ext cx="9143640" cy="3611519"/>
          </a:xfrm>
          <a:custGeom>
            <a:avLst/>
            <a:gdLst>
              <a:gd name="textAreaLeft" fmla="*/ 0 w 9143640"/>
              <a:gd name="textAreaRight" fmla="*/ 9144000 w 9143640"/>
              <a:gd name="textAreaTop" fmla="*/ 0 h 3611520"/>
              <a:gd name="textAreaBottom" fmla="*/ 3611880 h 3611520"/>
            </a:gdLst>
            <a:ahLst/>
            <a:cxnLst/>
            <a:rect l="textAreaLeft" t="textAreaTop" r="textAreaRight" b="textAreaBottom"/>
            <a:pathLst>
              <a:path w="9144000" h="3611880" fill="norm" stroke="1" extrusionOk="0">
                <a:moveTo>
                  <a:pt x="0" y="0"/>
                </a:moveTo>
                <a:lnTo>
                  <a:pt x="9144000" y="0"/>
                </a:lnTo>
                <a:lnTo>
                  <a:pt x="9144000" y="3611880"/>
                </a:lnTo>
                <a:lnTo>
                  <a:pt x="0" y="361188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922531" name="TextBox 3"/>
          <p:cNvSpPr/>
          <p:nvPr/>
        </p:nvSpPr>
        <p:spPr bwMode="auto">
          <a:xfrm>
            <a:off x="580680" y="3731760"/>
            <a:ext cx="7981920" cy="103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59200" lvl="1" indent="-129600" defTabSz="914400">
              <a:lnSpc>
                <a:spcPts val="1681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200" b="0" u="none" strike="noStrike">
                <a:solidFill>
                  <a:srgbClr val="000000"/>
                </a:solidFill>
                <a:latin typeface="Open Sans 2"/>
                <a:ea typeface="Open Sans 2"/>
              </a:rPr>
              <a:t>Daftar sku yang aktif di iklankan ada 3 dan 1 gruping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  <a:p>
            <a:pPr marL="259200" lvl="1" indent="-129600" defTabSz="914400">
              <a:lnSpc>
                <a:spcPts val="1681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200" b="0" u="none" strike="noStrike">
                <a:solidFill>
                  <a:srgbClr val="000000"/>
                </a:solidFill>
                <a:latin typeface="Open Sans 2"/>
                <a:ea typeface="Open Sans 2"/>
              </a:rPr>
              <a:t>Dubai Chewy mengalami progress paling positif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  <a:p>
            <a:pPr marL="259200" lvl="1" indent="-129600" defTabSz="914400">
              <a:lnSpc>
                <a:spcPts val="1681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200" b="0" u="none" strike="noStrike">
                <a:solidFill>
                  <a:srgbClr val="000000"/>
                </a:solidFill>
                <a:latin typeface="Open Sans 2"/>
                <a:ea typeface="Open Sans 2"/>
              </a:rPr>
              <a:t>Tetapi untuk saat ini produk heronya hanya 1 dan ini cukup riskan untuk kedepannya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681"/>
              </a:lnSpc>
              <a:defRPr/>
            </a:pPr>
            <a:r>
              <a:rPr lang="en-US" sz="1200" b="0" u="none" strike="noStrike">
                <a:solidFill>
                  <a:srgbClr val="000000"/>
                </a:solidFill>
                <a:latin typeface="Open Sans 2"/>
                <a:ea typeface="Open Sans 2"/>
              </a:rPr>
              <a:t>Insight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  <a:p>
            <a:pPr marL="259200" lvl="1" indent="-129600" defTabSz="914400">
              <a:lnSpc>
                <a:spcPts val="1681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200" b="0" u="none" strike="noStrike">
                <a:solidFill>
                  <a:srgbClr val="000000"/>
                </a:solidFill>
                <a:latin typeface="Open Sans 2"/>
                <a:ea typeface="Open Sans 2"/>
              </a:rPr>
              <a:t>Ketidakseimbangan kontribusi produk dapat menghambat scaling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166677" name="Freeform 2"/>
          <p:cNvSpPr/>
          <p:nvPr/>
        </p:nvSpPr>
        <p:spPr bwMode="auto">
          <a:xfrm>
            <a:off x="0" y="0"/>
            <a:ext cx="5762520" cy="4610160"/>
          </a:xfrm>
          <a:custGeom>
            <a:avLst/>
            <a:gdLst>
              <a:gd name="textAreaLeft" fmla="*/ 0 w 5762520"/>
              <a:gd name="textAreaRight" fmla="*/ 5762880 w 5762520"/>
              <a:gd name="textAreaTop" fmla="*/ 0 h 4610160"/>
              <a:gd name="textAreaBottom" fmla="*/ 4610520 h 4610160"/>
            </a:gdLst>
            <a:ahLst/>
            <a:cxnLst/>
            <a:rect l="textAreaLeft" t="textAreaTop" r="textAreaRight" b="textAreaBottom"/>
            <a:pathLst>
              <a:path w="5763025" h="4610420" fill="norm" stroke="1" extrusionOk="0">
                <a:moveTo>
                  <a:pt x="0" y="0"/>
                </a:moveTo>
                <a:lnTo>
                  <a:pt x="5763025" y="0"/>
                </a:lnTo>
                <a:lnTo>
                  <a:pt x="5763025" y="4610420"/>
                </a:lnTo>
                <a:lnTo>
                  <a:pt x="0" y="461042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7834209" name="TextBox 3"/>
          <p:cNvSpPr/>
          <p:nvPr/>
        </p:nvSpPr>
        <p:spPr bwMode="auto">
          <a:xfrm>
            <a:off x="5762880" y="495360"/>
            <a:ext cx="3290040" cy="166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59200" lvl="1" indent="-129600" defTabSz="914400">
              <a:lnSpc>
                <a:spcPts val="1681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200" b="0" u="none" strike="noStrike">
                <a:solidFill>
                  <a:srgbClr val="000000"/>
                </a:solidFill>
                <a:latin typeface="Open Sans 2"/>
                <a:ea typeface="Open Sans 2"/>
              </a:rPr>
              <a:t>Dalam iklan otomatis Fudgy Brownis menjadi penyumbang omset terbanyak yaitu di 1.2juta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  <a:p>
            <a:pPr marL="259200" lvl="1" indent="-129600" defTabSz="914400">
              <a:lnSpc>
                <a:spcPts val="1681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200" b="0" u="none" strike="noStrike">
                <a:solidFill>
                  <a:srgbClr val="000000"/>
                </a:solidFill>
                <a:latin typeface="Open Sans 2"/>
                <a:ea typeface="Open Sans 2"/>
              </a:rPr>
              <a:t>Produk Kue Soes habis ini harapannya bis di restock kembali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681"/>
              </a:lnSpc>
              <a:defRPr/>
            </a:pPr>
            <a:r>
              <a:rPr lang="en-US" sz="1200" b="0" u="none" strike="noStrike">
                <a:solidFill>
                  <a:srgbClr val="000000"/>
                </a:solidFill>
                <a:latin typeface="Open Sans 2"/>
                <a:ea typeface="Open Sans 2"/>
              </a:rPr>
              <a:t>Insight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  <a:p>
            <a:pPr marL="259200" lvl="1" indent="-129600" defTabSz="914400">
              <a:lnSpc>
                <a:spcPts val="1681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200" b="0" u="none" strike="noStrike">
                <a:solidFill>
                  <a:srgbClr val="000000"/>
                </a:solidFill>
                <a:latin typeface="Open Sans 2"/>
                <a:ea typeface="Open Sans 2"/>
              </a:rPr>
              <a:t>Produk out of stock (Kue Soes) menjadi lost opportunity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9783284" name="Freeform 2"/>
          <p:cNvSpPr/>
          <p:nvPr/>
        </p:nvSpPr>
        <p:spPr bwMode="auto">
          <a:xfrm>
            <a:off x="0" y="591840"/>
            <a:ext cx="9143640" cy="119988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1199880"/>
              <a:gd name="textAreaBottom" fmla="*/ 1200240 h 1199880"/>
            </a:gdLst>
            <a:ahLst/>
            <a:cxnLst/>
            <a:rect l="textAreaLeft" t="textAreaTop" r="textAreaRight" b="textAreaBottom"/>
            <a:pathLst>
              <a:path w="9144000" h="1200150" fill="norm" stroke="1" extrusionOk="0">
                <a:moveTo>
                  <a:pt x="0" y="0"/>
                </a:moveTo>
                <a:lnTo>
                  <a:pt x="9144000" y="0"/>
                </a:lnTo>
                <a:lnTo>
                  <a:pt x="9144000" y="1200150"/>
                </a:lnTo>
                <a:lnTo>
                  <a:pt x="0" y="12001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3037750" name="Freeform 3"/>
          <p:cNvSpPr/>
          <p:nvPr/>
        </p:nvSpPr>
        <p:spPr bwMode="auto">
          <a:xfrm>
            <a:off x="0" y="1791720"/>
            <a:ext cx="9143640" cy="81108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811080"/>
              <a:gd name="textAreaBottom" fmla="*/ 811440 h 811080"/>
            </a:gdLst>
            <a:ahLst/>
            <a:cxnLst/>
            <a:rect l="textAreaLeft" t="textAreaTop" r="textAreaRight" b="textAreaBottom"/>
            <a:pathLst>
              <a:path w="9144000" h="811530" fill="norm" stroke="1" extrusionOk="0">
                <a:moveTo>
                  <a:pt x="0" y="0"/>
                </a:moveTo>
                <a:lnTo>
                  <a:pt x="9144000" y="0"/>
                </a:lnTo>
                <a:lnTo>
                  <a:pt x="9144000" y="811530"/>
                </a:lnTo>
                <a:lnTo>
                  <a:pt x="0" y="8115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85283" name="Freeform 4"/>
          <p:cNvSpPr/>
          <p:nvPr/>
        </p:nvSpPr>
        <p:spPr bwMode="auto">
          <a:xfrm>
            <a:off x="0" y="2603519"/>
            <a:ext cx="9143640" cy="84564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845640"/>
              <a:gd name="textAreaBottom" fmla="*/ 846000 h 845640"/>
            </a:gdLst>
            <a:ahLst/>
            <a:cxnLst/>
            <a:rect l="textAreaLeft" t="textAreaTop" r="textAreaRight" b="textAreaBottom"/>
            <a:pathLst>
              <a:path w="9144000" h="845820" fill="norm" stroke="1" extrusionOk="0">
                <a:moveTo>
                  <a:pt x="0" y="0"/>
                </a:moveTo>
                <a:lnTo>
                  <a:pt x="9144000" y="0"/>
                </a:lnTo>
                <a:lnTo>
                  <a:pt x="9144000" y="845820"/>
                </a:lnTo>
                <a:lnTo>
                  <a:pt x="0" y="84582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6848564" name="Freeform 5"/>
          <p:cNvSpPr/>
          <p:nvPr/>
        </p:nvSpPr>
        <p:spPr bwMode="auto">
          <a:xfrm>
            <a:off x="0" y="3449160"/>
            <a:ext cx="9143640" cy="108540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1085400"/>
              <a:gd name="textAreaBottom" fmla="*/ 1085760 h 1085400"/>
            </a:gdLst>
            <a:ahLst/>
            <a:cxnLst/>
            <a:rect l="textAreaLeft" t="textAreaTop" r="textAreaRight" b="textAreaBottom"/>
            <a:pathLst>
              <a:path w="9144000" h="1085850" fill="norm" stroke="1" extrusionOk="0">
                <a:moveTo>
                  <a:pt x="0" y="0"/>
                </a:moveTo>
                <a:lnTo>
                  <a:pt x="9144000" y="0"/>
                </a:lnTo>
                <a:lnTo>
                  <a:pt x="9144000" y="1085850"/>
                </a:lnTo>
                <a:lnTo>
                  <a:pt x="0" y="10858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4683640" name="TextBox 6"/>
          <p:cNvSpPr/>
          <p:nvPr/>
        </p:nvSpPr>
        <p:spPr bwMode="auto">
          <a:xfrm>
            <a:off x="758160" y="48600"/>
            <a:ext cx="3406680" cy="5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201"/>
              </a:lnSpc>
              <a:defRPr/>
            </a:pPr>
            <a:r>
              <a:rPr lang="en-US" sz="3000" b="1" u="none" strike="noStrike">
                <a:solidFill>
                  <a:srgbClr val="FF7158"/>
                </a:solidFill>
                <a:latin typeface="Poppins Bold"/>
                <a:ea typeface="Poppins Bold"/>
              </a:rPr>
              <a:t>Performa </a:t>
            </a:r>
            <a:r>
              <a:rPr lang="en-US" sz="3000" b="1" u="none" strike="noStrike">
                <a:solidFill>
                  <a:srgbClr val="35228B"/>
                </a:solidFill>
                <a:latin typeface="Poppins Bold"/>
                <a:ea typeface="Poppins Bold"/>
              </a:rPr>
              <a:t>Toko</a:t>
            </a:r>
            <a:endParaRPr lang="en-US" sz="30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37511865" name=""/>
          <p:cNvGraphicFramePr>
            <a:graphicFrameLocks xmlns:a="http://schemas.openxmlformats.org/drawingml/2006/main" noChangeAspect="1"/>
          </p:cNvGraphicFramePr>
          <p:nvPr/>
        </p:nvGraphicFramePr>
        <p:xfrm>
          <a:off x="1270080" y="1270080"/>
          <a:ext cx="1269720" cy="1269720"/>
        </p:xfrm>
        <a:graphic>
          <a:graphicData uri="http://schemas.openxmlformats.org/presentationml/2006/ole">
            <p:oleObj name="oleObj" r:id="rId4" imgW="0" imgH="0" progId="Excel.Sheet.12">
              <p:embed/>
              <p:pic>
                <p:nvPicPr>
                  <p:cNvPr id="37511865" name=""/>
                  <p:cNvPicPr/>
                  <p:nvPr/>
                </p:nvPicPr>
                <p:blipFill rotWithShape="1">
                  <a:blip r:embed="rId3"/>
                  <a:stretch/>
                </p:blipFill>
                <p:spPr bwMode="auto">
                  <a:xfrm>
                    <a:off x="1270080" y="1270080"/>
                    <a:ext cx="1269720" cy="12697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983428364" name="TextBox 3"/>
          <p:cNvSpPr/>
          <p:nvPr/>
        </p:nvSpPr>
        <p:spPr bwMode="auto">
          <a:xfrm>
            <a:off x="137520" y="4273920"/>
            <a:ext cx="8868600" cy="86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1400"/>
              </a:lnSpc>
              <a:defRPr/>
            </a:pPr>
            <a:r>
              <a:rPr lang="en-US" sz="1000" b="0" u="none" strike="noStrike">
                <a:solidFill>
                  <a:srgbClr val="000000"/>
                </a:solidFill>
                <a:latin typeface="Open Sans 2"/>
                <a:ea typeface="Open Sans 2"/>
              </a:rPr>
              <a:t>Insight</a:t>
            </a:r>
            <a:endParaRPr lang="en-US" sz="1000" b="0" u="none" strike="noStrike">
              <a:solidFill>
                <a:srgbClr val="000000"/>
              </a:solidFill>
              <a:latin typeface="Arial"/>
            </a:endParaRPr>
          </a:p>
          <a:p>
            <a:pPr marL="216000" lvl="1" indent="-108000" defTabSz="914400">
              <a:lnSpc>
                <a:spcPts val="14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000" b="0" u="none" strike="noStrike">
                <a:solidFill>
                  <a:srgbClr val="000000"/>
                </a:solidFill>
                <a:latin typeface="Open Sans 2"/>
                <a:ea typeface="Open Sans 2"/>
              </a:rPr>
              <a:t>Demand meningkat kuat</a:t>
            </a:r>
            <a:endParaRPr lang="en-US" sz="1000" b="0" u="none" strike="noStrike">
              <a:solidFill>
                <a:srgbClr val="000000"/>
              </a:solidFill>
              <a:latin typeface="Arial"/>
            </a:endParaRPr>
          </a:p>
          <a:p>
            <a:pPr marL="216000" lvl="1" indent="-108000" defTabSz="914400">
              <a:lnSpc>
                <a:spcPts val="14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000" b="0" u="none" strike="noStrike">
                <a:solidFill>
                  <a:srgbClr val="000000"/>
                </a:solidFill>
                <a:latin typeface="Open Sans 2"/>
                <a:ea typeface="Open Sans 2"/>
              </a:rPr>
              <a:t>Buyer semakin banyak</a:t>
            </a:r>
            <a:endParaRPr lang="en-US" sz="1000" b="0" u="none" strike="noStrike">
              <a:solidFill>
                <a:srgbClr val="000000"/>
              </a:solidFill>
              <a:latin typeface="Arial"/>
            </a:endParaRPr>
          </a:p>
          <a:p>
            <a:pPr marL="216000" lvl="1" indent="-108000" defTabSz="914400">
              <a:lnSpc>
                <a:spcPts val="14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000" b="0" u="none" strike="noStrike">
                <a:solidFill>
                  <a:srgbClr val="000000"/>
                </a:solidFill>
                <a:latin typeface="Open Sans 2"/>
                <a:ea typeface="Open Sans 2"/>
              </a:rPr>
              <a:t>Namun nilai transaksi per pembelian menurun</a:t>
            </a:r>
            <a:endParaRPr lang="en-US" sz="1000" b="0" u="none" strike="noStrike">
              <a:solidFill>
                <a:srgbClr val="000000"/>
              </a:solidFill>
              <a:latin typeface="Arial"/>
            </a:endParaRPr>
          </a:p>
          <a:p>
            <a:pPr marL="216000" lvl="1" indent="-108000" defTabSz="914400">
              <a:lnSpc>
                <a:spcPts val="14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000" b="0" u="none" strike="noStrike">
                <a:solidFill>
                  <a:srgbClr val="000000"/>
                </a:solidFill>
                <a:latin typeface="Open Sans 2"/>
                <a:ea typeface="Open Sans 2"/>
              </a:rPr>
              <a:t>Fokus ke depan meningkatkan Average Order Value (AOV)</a:t>
            </a:r>
            <a:endParaRPr lang="en-US" sz="10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608731" name="Freeform 2"/>
          <p:cNvSpPr/>
          <p:nvPr/>
        </p:nvSpPr>
        <p:spPr bwMode="auto">
          <a:xfrm>
            <a:off x="0" y="790560"/>
            <a:ext cx="6535080" cy="726840"/>
          </a:xfrm>
          <a:custGeom>
            <a:avLst/>
            <a:gdLst>
              <a:gd name="textAreaLeft" fmla="*/ 0 w 6535080"/>
              <a:gd name="textAreaRight" fmla="*/ 6535440 w 6535080"/>
              <a:gd name="textAreaTop" fmla="*/ 0 h 726840"/>
              <a:gd name="textAreaBottom" fmla="*/ 727200 h 726840"/>
            </a:gdLst>
            <a:ahLst/>
            <a:cxnLst/>
            <a:rect l="textAreaLeft" t="textAreaTop" r="textAreaRight" b="textAreaBottom"/>
            <a:pathLst>
              <a:path w="6535390" h="727062" fill="norm" stroke="1" extrusionOk="0">
                <a:moveTo>
                  <a:pt x="0" y="0"/>
                </a:moveTo>
                <a:lnTo>
                  <a:pt x="6535390" y="0"/>
                </a:lnTo>
                <a:lnTo>
                  <a:pt x="6535390" y="727062"/>
                </a:lnTo>
                <a:lnTo>
                  <a:pt x="0" y="72706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7026952" name="Freeform 3"/>
          <p:cNvSpPr/>
          <p:nvPr/>
        </p:nvSpPr>
        <p:spPr bwMode="auto">
          <a:xfrm>
            <a:off x="0" y="1492920"/>
            <a:ext cx="6535080" cy="2475000"/>
          </a:xfrm>
          <a:custGeom>
            <a:avLst/>
            <a:gdLst>
              <a:gd name="textAreaLeft" fmla="*/ 0 w 6535080"/>
              <a:gd name="textAreaRight" fmla="*/ 6535440 w 6535080"/>
              <a:gd name="textAreaTop" fmla="*/ 0 h 2475000"/>
              <a:gd name="textAreaBottom" fmla="*/ 2475360 h 2475000"/>
            </a:gdLst>
            <a:ahLst/>
            <a:cxnLst/>
            <a:rect l="textAreaLeft" t="textAreaTop" r="textAreaRight" b="textAreaBottom"/>
            <a:pathLst>
              <a:path w="6535390" h="2475279" fill="norm" stroke="1" extrusionOk="0">
                <a:moveTo>
                  <a:pt x="0" y="0"/>
                </a:moveTo>
                <a:lnTo>
                  <a:pt x="6535390" y="0"/>
                </a:lnTo>
                <a:lnTo>
                  <a:pt x="6535390" y="2475279"/>
                </a:lnTo>
                <a:lnTo>
                  <a:pt x="0" y="247527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7630134" name="TextBox 4"/>
          <p:cNvSpPr/>
          <p:nvPr/>
        </p:nvSpPr>
        <p:spPr bwMode="auto">
          <a:xfrm>
            <a:off x="514439" y="200160"/>
            <a:ext cx="5166360" cy="5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201"/>
              </a:lnSpc>
              <a:defRPr/>
            </a:pPr>
            <a:r>
              <a:rPr lang="en-US" sz="3000" b="1" u="none" strike="noStrike">
                <a:solidFill>
                  <a:srgbClr val="FF7158"/>
                </a:solidFill>
                <a:latin typeface="Poppins Bold"/>
                <a:ea typeface="Poppins Bold"/>
              </a:rPr>
              <a:t>Performa </a:t>
            </a:r>
            <a:r>
              <a:rPr lang="en-US" sz="3000" b="1" u="none" strike="noStrike">
                <a:solidFill>
                  <a:srgbClr val="35228B"/>
                </a:solidFill>
                <a:latin typeface="Poppins Bold"/>
                <a:ea typeface="Poppins Bold"/>
              </a:rPr>
              <a:t>Diskon Toko</a:t>
            </a:r>
            <a:endParaRPr lang="en-US" sz="3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5600744" name="TextBox 5"/>
          <p:cNvSpPr/>
          <p:nvPr/>
        </p:nvSpPr>
        <p:spPr bwMode="auto">
          <a:xfrm>
            <a:off x="6535440" y="771480"/>
            <a:ext cx="2464200" cy="32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37600" lvl="1" indent="-118800" defTabSz="914400">
              <a:lnSpc>
                <a:spcPts val="1539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100" b="0" u="none" strike="noStrike">
                <a:solidFill>
                  <a:srgbClr val="000000"/>
                </a:solidFill>
                <a:latin typeface="Open Sans 2"/>
                <a:ea typeface="Open Sans 2"/>
              </a:rPr>
              <a:t>Penjualan dari diskon ada di 7.2 juta</a:t>
            </a:r>
            <a:endParaRPr lang="en-US" sz="1100" b="0" u="none" strike="noStrike">
              <a:solidFill>
                <a:srgbClr val="000000"/>
              </a:solidFill>
              <a:latin typeface="Arial"/>
            </a:endParaRPr>
          </a:p>
          <a:p>
            <a:pPr marL="237600" lvl="1" indent="-118800" defTabSz="914400">
              <a:lnSpc>
                <a:spcPts val="1539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100" b="0" u="none" strike="noStrike">
                <a:solidFill>
                  <a:srgbClr val="000000"/>
                </a:solidFill>
                <a:latin typeface="Open Sans 2"/>
                <a:ea typeface="Open Sans 2"/>
              </a:rPr>
              <a:t>Diskon paling banyak di gunakan adalah “Paket Hemat Dubai + Bite”</a:t>
            </a:r>
            <a:endParaRPr lang="en-US" sz="1100" b="0" u="none" strike="noStrike">
              <a:solidFill>
                <a:srgbClr val="000000"/>
              </a:solidFill>
              <a:latin typeface="Arial"/>
            </a:endParaRPr>
          </a:p>
          <a:p>
            <a:pPr marL="237600" lvl="1" indent="-118800" defTabSz="914400">
              <a:lnSpc>
                <a:spcPts val="1539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100" b="0" u="none" strike="noStrike">
                <a:solidFill>
                  <a:srgbClr val="000000"/>
                </a:solidFill>
                <a:latin typeface="Open Sans 2"/>
                <a:ea typeface="Open Sans 2"/>
              </a:rPr>
              <a:t>Skema diskon seperti ini dapat terus dilanjutkan karena:</a:t>
            </a:r>
            <a:endParaRPr lang="en-US" sz="1100" b="0" u="none" strike="noStrike">
              <a:solidFill>
                <a:srgbClr val="000000"/>
              </a:solidFill>
              <a:latin typeface="Arial"/>
            </a:endParaRPr>
          </a:p>
          <a:p>
            <a:pPr marL="474840" lvl="2" indent="-158400" defTabSz="914400">
              <a:lnSpc>
                <a:spcPts val="1539"/>
              </a:lnSpc>
              <a:buClr>
                <a:srgbClr val="000000"/>
              </a:buClr>
              <a:buFont typeface="Arial"/>
              <a:buChar char="⚬"/>
              <a:defRPr/>
            </a:pPr>
            <a:r>
              <a:rPr lang="en-US" sz="1100" b="0" u="none" strike="noStrike">
                <a:solidFill>
                  <a:srgbClr val="000000"/>
                </a:solidFill>
                <a:latin typeface="Open Sans 2"/>
                <a:ea typeface="Open Sans 2"/>
              </a:rPr>
              <a:t>efektif meningkatkan conversion</a:t>
            </a:r>
            <a:endParaRPr lang="en-US" sz="1100" b="0" u="none" strike="noStrike">
              <a:solidFill>
                <a:srgbClr val="000000"/>
              </a:solidFill>
              <a:latin typeface="Arial"/>
            </a:endParaRPr>
          </a:p>
          <a:p>
            <a:pPr marL="474840" lvl="2" indent="-158400" defTabSz="914400">
              <a:lnSpc>
                <a:spcPts val="1539"/>
              </a:lnSpc>
              <a:buClr>
                <a:srgbClr val="000000"/>
              </a:buClr>
              <a:buFont typeface="Arial"/>
              <a:buChar char="⚬"/>
              <a:defRPr/>
            </a:pPr>
            <a:r>
              <a:rPr lang="en-US" sz="1100" b="0" u="none" strike="noStrike">
                <a:solidFill>
                  <a:srgbClr val="000000"/>
                </a:solidFill>
                <a:latin typeface="Open Sans 2"/>
                <a:ea typeface="Open Sans 2"/>
              </a:rPr>
              <a:t>membantu mendorong keputusan checkout lebih cepat</a:t>
            </a:r>
            <a:endParaRPr lang="en-US" sz="1100" b="0" u="none" strike="noStrike">
              <a:solidFill>
                <a:srgbClr val="000000"/>
              </a:solidFill>
              <a:latin typeface="Arial"/>
            </a:endParaRPr>
          </a:p>
          <a:p>
            <a:pPr marL="474840" lvl="2" indent="-158400" defTabSz="914400">
              <a:lnSpc>
                <a:spcPts val="1539"/>
              </a:lnSpc>
              <a:buClr>
                <a:srgbClr val="000000"/>
              </a:buClr>
              <a:buFont typeface="Arial"/>
              <a:buChar char="⚬"/>
              <a:defRPr/>
            </a:pPr>
            <a:r>
              <a:rPr lang="en-US" sz="1100" b="0" u="none" strike="noStrike">
                <a:solidFill>
                  <a:srgbClr val="000000"/>
                </a:solidFill>
                <a:latin typeface="Open Sans 2"/>
                <a:ea typeface="Open Sans 2"/>
              </a:rPr>
              <a:t>memperkuat daya saing toko di marketplace</a:t>
            </a:r>
            <a:endParaRPr lang="en-US" sz="1100" b="0" u="none" strike="noStrike">
              <a:solidFill>
                <a:srgbClr val="000000"/>
              </a:solidFill>
              <a:latin typeface="Arial"/>
            </a:endParaRPr>
          </a:p>
          <a:p>
            <a:pPr marL="237600" lvl="1" indent="-118800" defTabSz="914400">
              <a:lnSpc>
                <a:spcPts val="1539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100" b="0" u="none" strike="noStrike">
                <a:solidFill>
                  <a:srgbClr val="000000"/>
                </a:solidFill>
                <a:latin typeface="Open Sans 2"/>
                <a:ea typeface="Open Sans 2"/>
              </a:rPr>
              <a:t>Paket Hemat Dubai bisa di perbanyak dan di variasikan dengan produk lainnya</a:t>
            </a:r>
            <a:endParaRPr lang="en-US" sz="11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1975934" name="Freeform 2"/>
          <p:cNvSpPr/>
          <p:nvPr/>
        </p:nvSpPr>
        <p:spPr bwMode="auto">
          <a:xfrm>
            <a:off x="514439" y="743040"/>
            <a:ext cx="8115120" cy="871920"/>
          </a:xfrm>
          <a:custGeom>
            <a:avLst/>
            <a:gdLst>
              <a:gd name="textAreaLeft" fmla="*/ 0 w 8115120"/>
              <a:gd name="textAreaRight" fmla="*/ 8115480 w 8115120"/>
              <a:gd name="textAreaTop" fmla="*/ 0 h 871920"/>
              <a:gd name="textAreaBottom" fmla="*/ 872280 h 871920"/>
            </a:gdLst>
            <a:ahLst/>
            <a:cxnLst/>
            <a:rect l="textAreaLeft" t="textAreaTop" r="textAreaRight" b="textAreaBottom"/>
            <a:pathLst>
              <a:path w="8115300" h="872395" fill="norm" stroke="1" extrusionOk="0">
                <a:moveTo>
                  <a:pt x="0" y="0"/>
                </a:moveTo>
                <a:lnTo>
                  <a:pt x="8115300" y="0"/>
                </a:lnTo>
                <a:lnTo>
                  <a:pt x="8115300" y="872395"/>
                </a:lnTo>
                <a:lnTo>
                  <a:pt x="0" y="87239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9732363" name="Freeform 3"/>
          <p:cNvSpPr/>
          <p:nvPr/>
        </p:nvSpPr>
        <p:spPr bwMode="auto">
          <a:xfrm>
            <a:off x="514439" y="1615320"/>
            <a:ext cx="8115120" cy="2160360"/>
          </a:xfrm>
          <a:custGeom>
            <a:avLst/>
            <a:gdLst>
              <a:gd name="textAreaLeft" fmla="*/ 0 w 8115120"/>
              <a:gd name="textAreaRight" fmla="*/ 8115480 w 8115120"/>
              <a:gd name="textAreaTop" fmla="*/ 0 h 2160360"/>
              <a:gd name="textAreaBottom" fmla="*/ 2160720 h 2160360"/>
            </a:gdLst>
            <a:ahLst/>
            <a:cxnLst/>
            <a:rect l="textAreaLeft" t="textAreaTop" r="textAreaRight" b="textAreaBottom"/>
            <a:pathLst>
              <a:path w="8115300" h="2160699" fill="norm" stroke="1" extrusionOk="0">
                <a:moveTo>
                  <a:pt x="0" y="0"/>
                </a:moveTo>
                <a:lnTo>
                  <a:pt x="8115300" y="0"/>
                </a:lnTo>
                <a:lnTo>
                  <a:pt x="8115300" y="2160698"/>
                </a:lnTo>
                <a:lnTo>
                  <a:pt x="0" y="216069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198717" name="TextBox 4"/>
          <p:cNvSpPr/>
          <p:nvPr/>
        </p:nvSpPr>
        <p:spPr bwMode="auto">
          <a:xfrm>
            <a:off x="514439" y="200160"/>
            <a:ext cx="5166360" cy="5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201"/>
              </a:lnSpc>
              <a:defRPr/>
            </a:pPr>
            <a:r>
              <a:rPr lang="en-US" sz="3000" b="1" u="none" strike="noStrike">
                <a:solidFill>
                  <a:srgbClr val="FF7158"/>
                </a:solidFill>
                <a:latin typeface="Poppins Bold"/>
                <a:ea typeface="Poppins Bold"/>
              </a:rPr>
              <a:t>Performa </a:t>
            </a:r>
            <a:r>
              <a:rPr lang="en-US" sz="3000" b="1" u="none" strike="noStrike">
                <a:solidFill>
                  <a:srgbClr val="35228B"/>
                </a:solidFill>
                <a:latin typeface="Poppins Bold"/>
                <a:ea typeface="Poppins Bold"/>
              </a:rPr>
              <a:t>Voucher Toko</a:t>
            </a:r>
            <a:endParaRPr lang="en-US" sz="3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9848259" name="TextBox 5"/>
          <p:cNvSpPr/>
          <p:nvPr/>
        </p:nvSpPr>
        <p:spPr bwMode="auto">
          <a:xfrm>
            <a:off x="580680" y="3756960"/>
            <a:ext cx="7981920" cy="12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59200" lvl="1" indent="-129600" defTabSz="914400">
              <a:lnSpc>
                <a:spcPts val="1681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200" b="0" u="none" strike="noStrike">
                <a:solidFill>
                  <a:srgbClr val="000000"/>
                </a:solidFill>
                <a:latin typeface="Open Sans 2"/>
                <a:ea typeface="Open Sans 2"/>
              </a:rPr>
              <a:t>Performa penggunaan voucher di 30 hari terakhir menunjukkan kontribusi penjualan yang kuat, dengan total penjualan di kisaran Rp23 jutaan dan tingkat penggunaan voucher sebesar 2,82%. 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  <a:p>
            <a:pPr marL="259200" lvl="1" indent="-129600" defTabSz="914400">
              <a:lnSpc>
                <a:spcPts val="1681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200" b="0" u="none" strike="noStrike">
                <a:solidFill>
                  <a:srgbClr val="000000"/>
                </a:solidFill>
                <a:latin typeface="Open Sans 2"/>
                <a:ea typeface="Open Sans 2"/>
              </a:rPr>
              <a:t>Bisa dipastikan untuk voucher jangan sampai kehabisan → biasanya langsung kerasa di performa iklannya.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  <a:p>
            <a:pPr marL="259200" lvl="1" indent="-129600" defTabSz="914400">
              <a:lnSpc>
                <a:spcPts val="1681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200" b="0" u="none" strike="noStrike">
                <a:solidFill>
                  <a:srgbClr val="000000"/>
                </a:solidFill>
                <a:latin typeface="Open Sans 2"/>
                <a:ea typeface="Open Sans 2"/>
              </a:rPr>
              <a:t>Voucher bukan sekadar pelengkap promo, tetapi sudah menjadi salah satu komponen penting dalam ekosistem penjualan toko.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  <a:p>
            <a:pPr marL="259200" lvl="1" indent="-129600" defTabSz="914400">
              <a:lnSpc>
                <a:spcPts val="1681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200" b="0" u="none" strike="noStrike">
                <a:solidFill>
                  <a:srgbClr val="000000"/>
                </a:solidFill>
                <a:latin typeface="Open Sans 2"/>
                <a:ea typeface="Open Sans 2"/>
              </a:rPr>
              <a:t>Promo bukan hanya pelengkap, tetapi driver utama conversion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9452029" name="Freeform 2"/>
          <p:cNvSpPr/>
          <p:nvPr/>
        </p:nvSpPr>
        <p:spPr bwMode="auto">
          <a:xfrm>
            <a:off x="514439" y="743040"/>
            <a:ext cx="8115120" cy="3377519"/>
          </a:xfrm>
          <a:custGeom>
            <a:avLst/>
            <a:gdLst>
              <a:gd name="textAreaLeft" fmla="*/ 0 w 8115120"/>
              <a:gd name="textAreaRight" fmla="*/ 8115480 w 8115120"/>
              <a:gd name="textAreaTop" fmla="*/ 0 h 3377520"/>
              <a:gd name="textAreaBottom" fmla="*/ 3377880 h 3377520"/>
            </a:gdLst>
            <a:ahLst/>
            <a:cxnLst/>
            <a:rect l="textAreaLeft" t="textAreaTop" r="textAreaRight" b="textAreaBottom"/>
            <a:pathLst>
              <a:path w="8115300" h="3377994" fill="norm" stroke="1" extrusionOk="0">
                <a:moveTo>
                  <a:pt x="0" y="0"/>
                </a:moveTo>
                <a:lnTo>
                  <a:pt x="8115300" y="0"/>
                </a:lnTo>
                <a:lnTo>
                  <a:pt x="8115300" y="3377994"/>
                </a:lnTo>
                <a:lnTo>
                  <a:pt x="0" y="337799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3831564" name="TextBox 3"/>
          <p:cNvSpPr/>
          <p:nvPr/>
        </p:nvSpPr>
        <p:spPr bwMode="auto">
          <a:xfrm>
            <a:off x="514439" y="200160"/>
            <a:ext cx="5166360" cy="5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201"/>
              </a:lnSpc>
              <a:defRPr/>
            </a:pPr>
            <a:r>
              <a:rPr lang="en-US" sz="3000" b="1" u="none" strike="noStrike">
                <a:solidFill>
                  <a:srgbClr val="FF7158"/>
                </a:solidFill>
                <a:latin typeface="Poppins Bold"/>
                <a:ea typeface="Poppins Bold"/>
              </a:rPr>
              <a:t>Performa </a:t>
            </a:r>
            <a:r>
              <a:rPr lang="en-US" sz="3000" b="1" u="none" strike="noStrike">
                <a:solidFill>
                  <a:srgbClr val="35228B"/>
                </a:solidFill>
                <a:latin typeface="Poppins Bold"/>
                <a:ea typeface="Poppins Bold"/>
              </a:rPr>
              <a:t>Live</a:t>
            </a:r>
            <a:endParaRPr lang="en-US" sz="3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2381867" name="TextBox 4"/>
          <p:cNvSpPr/>
          <p:nvPr/>
        </p:nvSpPr>
        <p:spPr bwMode="auto">
          <a:xfrm>
            <a:off x="514439" y="4162680"/>
            <a:ext cx="798192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1681"/>
              </a:lnSpc>
              <a:defRPr/>
            </a:pPr>
            <a:r>
              <a:rPr lang="en-US" sz="1200" b="0" u="none" strike="noStrike">
                <a:solidFill>
                  <a:srgbClr val="000000"/>
                </a:solidFill>
                <a:latin typeface="Open Sans 2"/>
                <a:ea typeface="Open Sans 2"/>
              </a:rPr>
              <a:t>Insight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  <a:p>
            <a:pPr marL="259200" lvl="1" indent="-129600" defTabSz="914400">
              <a:lnSpc>
                <a:spcPts val="1681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200" b="0" u="none" strike="noStrike">
                <a:solidFill>
                  <a:srgbClr val="000000"/>
                </a:solidFill>
                <a:latin typeface="Open Sans 2"/>
                <a:ea typeface="Open Sans 2"/>
              </a:rPr>
              <a:t>Performa live belum menghasilkan penjualan walaupun aktivitas live sudah mulai di lakukan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4262318" name="Freeform 2"/>
          <p:cNvSpPr/>
          <p:nvPr/>
        </p:nvSpPr>
        <p:spPr bwMode="auto">
          <a:xfrm>
            <a:off x="514439" y="743040"/>
            <a:ext cx="8115120" cy="2829960"/>
          </a:xfrm>
          <a:custGeom>
            <a:avLst/>
            <a:gdLst>
              <a:gd name="textAreaLeft" fmla="*/ 0 w 8115120"/>
              <a:gd name="textAreaRight" fmla="*/ 8115480 w 8115120"/>
              <a:gd name="textAreaTop" fmla="*/ 0 h 2829960"/>
              <a:gd name="textAreaBottom" fmla="*/ 2830320 h 2829960"/>
            </a:gdLst>
            <a:ahLst/>
            <a:cxnLst/>
            <a:rect l="textAreaLeft" t="textAreaTop" r="textAreaRight" b="textAreaBottom"/>
            <a:pathLst>
              <a:path w="8115300" h="2830211" fill="norm" stroke="1" extrusionOk="0">
                <a:moveTo>
                  <a:pt x="0" y="0"/>
                </a:moveTo>
                <a:lnTo>
                  <a:pt x="8115300" y="0"/>
                </a:lnTo>
                <a:lnTo>
                  <a:pt x="8115300" y="2830211"/>
                </a:lnTo>
                <a:lnTo>
                  <a:pt x="0" y="283021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98577" name="TextBox 3"/>
          <p:cNvSpPr/>
          <p:nvPr/>
        </p:nvSpPr>
        <p:spPr bwMode="auto">
          <a:xfrm>
            <a:off x="514439" y="200160"/>
            <a:ext cx="5166360" cy="5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201"/>
              </a:lnSpc>
              <a:defRPr/>
            </a:pPr>
            <a:r>
              <a:rPr lang="en-US" sz="3000" b="1" u="none" strike="noStrike">
                <a:solidFill>
                  <a:srgbClr val="FF7158"/>
                </a:solidFill>
                <a:latin typeface="Poppins Bold"/>
                <a:ea typeface="Poppins Bold"/>
              </a:rPr>
              <a:t>Performa </a:t>
            </a:r>
            <a:r>
              <a:rPr lang="en-US" sz="3000" b="1" u="none" strike="noStrike">
                <a:solidFill>
                  <a:srgbClr val="35228B"/>
                </a:solidFill>
                <a:latin typeface="Poppins Bold"/>
                <a:ea typeface="Poppins Bold"/>
              </a:rPr>
              <a:t>Video</a:t>
            </a:r>
            <a:endParaRPr lang="en-US" sz="3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844718" name="TextBox 4"/>
          <p:cNvSpPr/>
          <p:nvPr/>
        </p:nvSpPr>
        <p:spPr bwMode="auto">
          <a:xfrm>
            <a:off x="514439" y="3772800"/>
            <a:ext cx="7981920" cy="61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1681"/>
              </a:lnSpc>
              <a:defRPr/>
            </a:pPr>
            <a:r>
              <a:rPr lang="en-US" sz="1200" b="0" u="none" strike="noStrike">
                <a:solidFill>
                  <a:srgbClr val="000000"/>
                </a:solidFill>
                <a:latin typeface="Open Sans 2"/>
                <a:ea typeface="Open Sans 2"/>
              </a:rPr>
              <a:t>Insight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  <a:p>
            <a:pPr marL="259200" lvl="1" indent="-129600" defTabSz="914400">
              <a:lnSpc>
                <a:spcPts val="1681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200" b="0" u="none" strike="noStrike">
                <a:solidFill>
                  <a:srgbClr val="000000"/>
                </a:solidFill>
                <a:latin typeface="Open Sans 2"/>
                <a:ea typeface="Open Sans 2"/>
              </a:rPr>
              <a:t>Performa video belum ada yang menghasilkan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  <a:p>
            <a:pPr marL="259200" lvl="1" indent="-129600" defTabSz="914400">
              <a:lnSpc>
                <a:spcPts val="1681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200" b="0" u="none" strike="noStrike">
                <a:solidFill>
                  <a:srgbClr val="000000"/>
                </a:solidFill>
                <a:latin typeface="Open Sans 2"/>
                <a:ea typeface="Open Sans 2"/>
              </a:rPr>
              <a:t>Konsisitenkan konten yang di upload, minimla 1 hari 1 video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3804166" name="Freeform 2"/>
          <p:cNvSpPr/>
          <p:nvPr/>
        </p:nvSpPr>
        <p:spPr bwMode="auto">
          <a:xfrm>
            <a:off x="30600" y="743040"/>
            <a:ext cx="5894640" cy="1303920"/>
          </a:xfrm>
          <a:custGeom>
            <a:avLst/>
            <a:gdLst>
              <a:gd name="textAreaLeft" fmla="*/ 0 w 5894640"/>
              <a:gd name="textAreaRight" fmla="*/ 5895000 w 5894640"/>
              <a:gd name="textAreaTop" fmla="*/ 0 h 1303920"/>
              <a:gd name="textAreaBottom" fmla="*/ 1304280 h 1303920"/>
            </a:gdLst>
            <a:ahLst/>
            <a:cxnLst/>
            <a:rect l="textAreaLeft" t="textAreaTop" r="textAreaRight" b="textAreaBottom"/>
            <a:pathLst>
              <a:path w="5895019" h="1304273" fill="norm" stroke="1" extrusionOk="0">
                <a:moveTo>
                  <a:pt x="0" y="0"/>
                </a:moveTo>
                <a:lnTo>
                  <a:pt x="5895018" y="0"/>
                </a:lnTo>
                <a:lnTo>
                  <a:pt x="5895018" y="1304273"/>
                </a:lnTo>
                <a:lnTo>
                  <a:pt x="0" y="130427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6423435" name="Freeform 3"/>
          <p:cNvSpPr/>
          <p:nvPr/>
        </p:nvSpPr>
        <p:spPr bwMode="auto">
          <a:xfrm>
            <a:off x="30600" y="2047320"/>
            <a:ext cx="5894640" cy="780840"/>
          </a:xfrm>
          <a:custGeom>
            <a:avLst/>
            <a:gdLst>
              <a:gd name="textAreaLeft" fmla="*/ 0 w 5894640"/>
              <a:gd name="textAreaRight" fmla="*/ 5895000 w 5894640"/>
              <a:gd name="textAreaTop" fmla="*/ 0 h 780840"/>
              <a:gd name="textAreaBottom" fmla="*/ 781200 h 780840"/>
            </a:gdLst>
            <a:ahLst/>
            <a:cxnLst/>
            <a:rect l="textAreaLeft" t="textAreaTop" r="textAreaRight" b="textAreaBottom"/>
            <a:pathLst>
              <a:path w="5895019" h="781090" fill="norm" stroke="1" extrusionOk="0">
                <a:moveTo>
                  <a:pt x="0" y="0"/>
                </a:moveTo>
                <a:lnTo>
                  <a:pt x="5895018" y="0"/>
                </a:lnTo>
                <a:lnTo>
                  <a:pt x="5895018" y="781090"/>
                </a:lnTo>
                <a:lnTo>
                  <a:pt x="0" y="78109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1115840" name="Freeform 4"/>
          <p:cNvSpPr/>
          <p:nvPr/>
        </p:nvSpPr>
        <p:spPr bwMode="auto">
          <a:xfrm>
            <a:off x="30600" y="2828519"/>
            <a:ext cx="5894640" cy="2202840"/>
          </a:xfrm>
          <a:custGeom>
            <a:avLst/>
            <a:gdLst>
              <a:gd name="textAreaLeft" fmla="*/ 0 w 5894640"/>
              <a:gd name="textAreaRight" fmla="*/ 5895000 w 5894640"/>
              <a:gd name="textAreaTop" fmla="*/ 0 h 2202840"/>
              <a:gd name="textAreaBottom" fmla="*/ 2203200 h 2202840"/>
            </a:gdLst>
            <a:ahLst/>
            <a:cxnLst/>
            <a:rect l="textAreaLeft" t="textAreaTop" r="textAreaRight" b="textAreaBottom"/>
            <a:pathLst>
              <a:path w="5895019" h="2203263" fill="norm" stroke="1" extrusionOk="0">
                <a:moveTo>
                  <a:pt x="0" y="0"/>
                </a:moveTo>
                <a:lnTo>
                  <a:pt x="5895018" y="0"/>
                </a:lnTo>
                <a:lnTo>
                  <a:pt x="5895018" y="2203263"/>
                </a:lnTo>
                <a:lnTo>
                  <a:pt x="0" y="220326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779894" name="TextBox 5"/>
          <p:cNvSpPr/>
          <p:nvPr/>
        </p:nvSpPr>
        <p:spPr bwMode="auto">
          <a:xfrm>
            <a:off x="514439" y="200160"/>
            <a:ext cx="5166360" cy="5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201"/>
              </a:lnSpc>
              <a:defRPr/>
            </a:pPr>
            <a:r>
              <a:rPr lang="en-US" sz="3000" b="1" u="none" strike="noStrike">
                <a:solidFill>
                  <a:srgbClr val="FF7158"/>
                </a:solidFill>
                <a:latin typeface="Poppins Bold"/>
                <a:ea typeface="Poppins Bold"/>
              </a:rPr>
              <a:t>Performa </a:t>
            </a:r>
            <a:r>
              <a:rPr lang="en-US" sz="3000" b="1" u="none" strike="noStrike">
                <a:solidFill>
                  <a:srgbClr val="35228B"/>
                </a:solidFill>
                <a:latin typeface="Poppins Bold"/>
                <a:ea typeface="Poppins Bold"/>
              </a:rPr>
              <a:t>Affiliate</a:t>
            </a:r>
            <a:endParaRPr lang="en-US" sz="3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6610694" name="TextBox 6"/>
          <p:cNvSpPr/>
          <p:nvPr/>
        </p:nvSpPr>
        <p:spPr bwMode="auto">
          <a:xfrm>
            <a:off x="6007680" y="723960"/>
            <a:ext cx="2972880" cy="39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1681"/>
              </a:lnSpc>
              <a:defRPr/>
            </a:pPr>
            <a:r>
              <a:rPr lang="en-US" sz="1200" b="0" u="none" strike="noStrike">
                <a:solidFill>
                  <a:srgbClr val="000000"/>
                </a:solidFill>
                <a:latin typeface="Open Sans 2"/>
                <a:ea typeface="Open Sans 2"/>
              </a:rPr>
              <a:t>Insight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  <a:p>
            <a:pPr marL="259200" lvl="1" indent="-129600" defTabSz="914400">
              <a:lnSpc>
                <a:spcPts val="1681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200" b="0" u="none" strike="noStrike">
                <a:solidFill>
                  <a:srgbClr val="000000"/>
                </a:solidFill>
                <a:latin typeface="Open Sans 2"/>
                <a:ea typeface="Open Sans 2"/>
              </a:rPr>
              <a:t>Performa affiliate mengalami kenaikan tajam di 333% dari pada bulan sebelumnya yang menunjukkan bahwa channel ini mulai memberikan kontribusi yang semakin relevan terhadap penjualan toko. 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  <a:p>
            <a:pPr marL="259200" lvl="1" indent="-129600" defTabSz="914400">
              <a:lnSpc>
                <a:spcPts val="1681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200" b="0" u="none" strike="noStrike">
                <a:solidFill>
                  <a:srgbClr val="000000"/>
                </a:solidFill>
                <a:latin typeface="Open Sans 2"/>
                <a:ea typeface="Open Sans 2"/>
              </a:rPr>
              <a:t>Penjualan paling banyak dari platform lainnya (WA/Threads/dll)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  <a:p>
            <a:pPr marL="259200" lvl="1" indent="-129600" defTabSz="914400">
              <a:lnSpc>
                <a:spcPts val="1681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200" b="0" u="none" strike="noStrike">
                <a:solidFill>
                  <a:srgbClr val="000000"/>
                </a:solidFill>
                <a:latin typeface="Open Sans 2"/>
                <a:ea typeface="Open Sans 2"/>
              </a:rPr>
              <a:t>Affiliator paling oke adalah shopee sendiri dan shopback.id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  <a:p>
            <a:pPr marL="259200" lvl="1" indent="-129600" defTabSz="914400">
              <a:lnSpc>
                <a:spcPts val="1681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200" b="0" u="none" strike="noStrike">
                <a:solidFill>
                  <a:srgbClr val="000000"/>
                </a:solidFill>
                <a:latin typeface="Open Sans 2"/>
                <a:ea typeface="Open Sans 2"/>
              </a:rPr>
              <a:t>Affiliate sangat potensial untuk: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  <a:p>
            <a:pPr marL="518040" lvl="2" indent="-172800" defTabSz="914400">
              <a:lnSpc>
                <a:spcPts val="1681"/>
              </a:lnSpc>
              <a:buClr>
                <a:srgbClr val="000000"/>
              </a:buClr>
              <a:buFont typeface="Arial"/>
              <a:buChar char="⚬"/>
              <a:defRPr/>
            </a:pPr>
            <a:r>
              <a:rPr lang="en-US" sz="1200" b="0" u="none" strike="noStrike">
                <a:solidFill>
                  <a:srgbClr val="000000"/>
                </a:solidFill>
                <a:latin typeface="Open Sans 2"/>
                <a:ea typeface="Open Sans 2"/>
              </a:rPr>
              <a:t>memperluas jangkauan audience baru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  <a:p>
            <a:pPr marL="518040" lvl="2" indent="-172800" defTabSz="914400">
              <a:lnSpc>
                <a:spcPts val="1681"/>
              </a:lnSpc>
              <a:buClr>
                <a:srgbClr val="000000"/>
              </a:buClr>
              <a:buFont typeface="Arial"/>
              <a:buChar char="⚬"/>
              <a:defRPr/>
            </a:pPr>
            <a:r>
              <a:rPr lang="en-US" sz="1200" b="0" u="none" strike="noStrike">
                <a:solidFill>
                  <a:srgbClr val="000000"/>
                </a:solidFill>
                <a:latin typeface="Open Sans 2"/>
                <a:ea typeface="Open Sans 2"/>
              </a:rPr>
              <a:t>meningkatkan exposure tanpa full bergantung pada ads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  <a:p>
            <a:pPr marL="518040" lvl="2" indent="-172800" defTabSz="914400">
              <a:lnSpc>
                <a:spcPts val="1681"/>
              </a:lnSpc>
              <a:buClr>
                <a:srgbClr val="000000"/>
              </a:buClr>
              <a:buFont typeface="Arial"/>
              <a:buChar char="⚬"/>
              <a:defRPr/>
            </a:pPr>
            <a:r>
              <a:rPr lang="en-US" sz="1200" b="0" u="none" strike="noStrike">
                <a:solidFill>
                  <a:srgbClr val="000000"/>
                </a:solidFill>
                <a:latin typeface="Open Sans 2"/>
                <a:ea typeface="Open Sans 2"/>
              </a:rPr>
              <a:t>membantu distribusi konten produk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681"/>
              </a:lnSpc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2375021" name="Freeform 2"/>
          <p:cNvSpPr/>
          <p:nvPr/>
        </p:nvSpPr>
        <p:spPr bwMode="auto">
          <a:xfrm>
            <a:off x="514439" y="866160"/>
            <a:ext cx="8115120" cy="3063240"/>
          </a:xfrm>
          <a:custGeom>
            <a:avLst/>
            <a:gdLst>
              <a:gd name="textAreaLeft" fmla="*/ 0 w 8115120"/>
              <a:gd name="textAreaRight" fmla="*/ 8115480 w 8115120"/>
              <a:gd name="textAreaTop" fmla="*/ 0 h 3063240"/>
              <a:gd name="textAreaBottom" fmla="*/ 3063600 h 3063240"/>
            </a:gdLst>
            <a:ahLst/>
            <a:cxnLst/>
            <a:rect l="textAreaLeft" t="textAreaTop" r="textAreaRight" b="textAreaBottom"/>
            <a:pathLst>
              <a:path w="8115300" h="3063526" fill="norm" stroke="1" extrusionOk="0">
                <a:moveTo>
                  <a:pt x="0" y="0"/>
                </a:moveTo>
                <a:lnTo>
                  <a:pt x="8115300" y="0"/>
                </a:lnTo>
                <a:lnTo>
                  <a:pt x="8115300" y="3063526"/>
                </a:lnTo>
                <a:lnTo>
                  <a:pt x="0" y="306352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0730203" name="TextBox 3"/>
          <p:cNvSpPr/>
          <p:nvPr/>
        </p:nvSpPr>
        <p:spPr bwMode="auto">
          <a:xfrm>
            <a:off x="514439" y="243719"/>
            <a:ext cx="5166360" cy="5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201"/>
              </a:lnSpc>
              <a:defRPr/>
            </a:pPr>
            <a:r>
              <a:rPr lang="en-US" sz="3000" b="1" u="none" strike="noStrike">
                <a:solidFill>
                  <a:srgbClr val="FF7158"/>
                </a:solidFill>
                <a:latin typeface="Poppins Bold"/>
                <a:ea typeface="Poppins Bold"/>
              </a:rPr>
              <a:t>Performa </a:t>
            </a:r>
            <a:r>
              <a:rPr lang="en-US" sz="3000" b="1" u="none" strike="noStrike">
                <a:solidFill>
                  <a:srgbClr val="35228B"/>
                </a:solidFill>
                <a:latin typeface="Poppins Bold"/>
                <a:ea typeface="Poppins Bold"/>
              </a:rPr>
              <a:t>Produk</a:t>
            </a:r>
            <a:endParaRPr lang="en-US" sz="3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442216" name="TextBox 4"/>
          <p:cNvSpPr/>
          <p:nvPr/>
        </p:nvSpPr>
        <p:spPr bwMode="auto">
          <a:xfrm>
            <a:off x="514439" y="4103280"/>
            <a:ext cx="8115120" cy="75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1539"/>
              </a:lnSpc>
              <a:defRPr/>
            </a:pPr>
            <a:r>
              <a:rPr lang="en-US" sz="1100" b="0" u="none" strike="noStrike">
                <a:solidFill>
                  <a:srgbClr val="000000"/>
                </a:solidFill>
                <a:latin typeface="Open Sans 1"/>
                <a:ea typeface="Open Sans 1"/>
              </a:rPr>
              <a:t>Produk terpopuler adalah Dubai dengan 259k produk di lihat, 16.985 produk di klik, serta 289 pesanan berhasil di kirim, menghasilkan sebesar Rp31.755.05K, disusul dengan Cake Creamy &amp; Hampers, Pastikan untuk stoknya aman → kalau stok habis efek penurunan penjualan tokonya lumayan tinggi.</a:t>
            </a:r>
            <a:endParaRPr lang="en-US" sz="11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39"/>
              </a:lnSpc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6876724" name="TextBox 2"/>
          <p:cNvSpPr/>
          <p:nvPr/>
        </p:nvSpPr>
        <p:spPr bwMode="auto">
          <a:xfrm>
            <a:off x="245160" y="743400"/>
            <a:ext cx="8653320" cy="307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324000" lvl="1" indent="-162000" defTabSz="914400">
              <a:lnSpc>
                <a:spcPts val="1780"/>
              </a:lnSpc>
              <a:buClr>
                <a:srgbClr val="35228B"/>
              </a:buClr>
              <a:buFont typeface="Arial"/>
              <a:buChar char="•"/>
              <a:defRPr/>
            </a:pPr>
            <a:r>
              <a:rPr lang="en-US" sz="1500" b="0" u="none" strike="noStrike">
                <a:solidFill>
                  <a:srgbClr val="35228B"/>
                </a:solidFill>
                <a:latin typeface="Poppins"/>
                <a:ea typeface="Poppins"/>
              </a:rPr>
              <a:t>Performa iklan Shopee Kaluna pada periode ini menunjukkan pertumbuhan yang sangat positif, ditandai dengan peningkatan signifikan pada traffic, jumlah klik, pesanan, serta omzet.</a:t>
            </a:r>
            <a:endParaRPr lang="en-US" sz="1500" b="0" u="none" strike="noStrike">
              <a:solidFill>
                <a:srgbClr val="000000"/>
              </a:solidFill>
              <a:latin typeface="Arial"/>
            </a:endParaRPr>
          </a:p>
          <a:p>
            <a:pPr marL="324000" lvl="1" indent="-162000" defTabSz="914400">
              <a:lnSpc>
                <a:spcPts val="1780"/>
              </a:lnSpc>
              <a:buClr>
                <a:srgbClr val="35228B"/>
              </a:buClr>
              <a:buFont typeface="Arial"/>
              <a:buChar char="•"/>
              <a:defRPr/>
            </a:pPr>
            <a:r>
              <a:rPr lang="en-US" sz="1500" b="0" u="none" strike="noStrike">
                <a:solidFill>
                  <a:srgbClr val="35228B"/>
                </a:solidFill>
                <a:latin typeface="Poppins"/>
                <a:ea typeface="Poppins"/>
              </a:rPr>
              <a:t>Namun, terdapat beberapa hal yang perlu menjadi perhatian:</a:t>
            </a:r>
            <a:endParaRPr lang="en-US" sz="1500" b="0" u="none" strike="noStrike">
              <a:solidFill>
                <a:srgbClr val="000000"/>
              </a:solidFill>
              <a:latin typeface="Arial"/>
            </a:endParaRPr>
          </a:p>
          <a:p>
            <a:pPr marL="647640" lvl="2" indent="-216000" defTabSz="914400">
              <a:lnSpc>
                <a:spcPts val="1780"/>
              </a:lnSpc>
              <a:buClr>
                <a:srgbClr val="35228B"/>
              </a:buClr>
              <a:buFont typeface="Arial"/>
              <a:buChar char="⚬"/>
              <a:defRPr/>
            </a:pPr>
            <a:r>
              <a:rPr lang="en-US" sz="1500" b="0" u="none" strike="noStrike">
                <a:solidFill>
                  <a:srgbClr val="35228B"/>
                </a:solidFill>
                <a:latin typeface="Poppins"/>
                <a:ea typeface="Poppins"/>
              </a:rPr>
              <a:t>Efisiensi iklan sedikit menurun saat scaling</a:t>
            </a:r>
            <a:endParaRPr lang="en-US" sz="1500" b="0" u="none" strike="noStrike">
              <a:solidFill>
                <a:srgbClr val="000000"/>
              </a:solidFill>
              <a:latin typeface="Arial"/>
            </a:endParaRPr>
          </a:p>
          <a:p>
            <a:pPr marL="647640" lvl="2" indent="-216000" defTabSz="914400">
              <a:lnSpc>
                <a:spcPts val="1780"/>
              </a:lnSpc>
              <a:buClr>
                <a:srgbClr val="35228B"/>
              </a:buClr>
              <a:buFont typeface="Arial"/>
              <a:buChar char="⚬"/>
              <a:defRPr/>
            </a:pPr>
            <a:r>
              <a:rPr lang="en-US" sz="1500" b="0" u="none" strike="noStrike">
                <a:solidFill>
                  <a:srgbClr val="35228B"/>
                </a:solidFill>
                <a:latin typeface="Poppins"/>
                <a:ea typeface="Poppins"/>
              </a:rPr>
              <a:t>Ketergantungan tinggi pada satu produk utama</a:t>
            </a:r>
            <a:endParaRPr lang="en-US" sz="1500" b="0" u="none" strike="noStrike">
              <a:solidFill>
                <a:srgbClr val="000000"/>
              </a:solidFill>
              <a:latin typeface="Arial"/>
            </a:endParaRPr>
          </a:p>
          <a:p>
            <a:pPr marL="647640" lvl="2" indent="-216000" defTabSz="914400">
              <a:lnSpc>
                <a:spcPts val="1780"/>
              </a:lnSpc>
              <a:buClr>
                <a:srgbClr val="35228B"/>
              </a:buClr>
              <a:buFont typeface="Arial"/>
              <a:buChar char="⚬"/>
              <a:defRPr/>
            </a:pPr>
            <a:r>
              <a:rPr lang="en-US" sz="1500" b="0" u="none" strike="noStrike">
                <a:solidFill>
                  <a:srgbClr val="35228B"/>
                </a:solidFill>
                <a:latin typeface="Poppins"/>
                <a:ea typeface="Poppins"/>
              </a:rPr>
              <a:t>Penurunan nilai rata-rata pembelian (AOV)</a:t>
            </a:r>
            <a:endParaRPr lang="en-US" sz="1500" b="0" u="none" strike="noStrike">
              <a:solidFill>
                <a:srgbClr val="000000"/>
              </a:solidFill>
              <a:latin typeface="Arial"/>
            </a:endParaRPr>
          </a:p>
          <a:p>
            <a:pPr marL="647640" lvl="2" indent="-216000" defTabSz="914400">
              <a:lnSpc>
                <a:spcPts val="1780"/>
              </a:lnSpc>
              <a:buClr>
                <a:srgbClr val="35228B"/>
              </a:buClr>
              <a:buFont typeface="Arial"/>
              <a:buChar char="⚬"/>
              <a:defRPr/>
            </a:pPr>
            <a:r>
              <a:rPr lang="en-US" sz="1500" b="0" u="none" strike="noStrike">
                <a:solidFill>
                  <a:srgbClr val="35228B"/>
                </a:solidFill>
                <a:latin typeface="Poppins"/>
                <a:ea typeface="Poppins"/>
              </a:rPr>
              <a:t>Channel organik (video &amp; live) belum optimal</a:t>
            </a:r>
            <a:endParaRPr lang="en-US" sz="15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780"/>
              </a:lnSpc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780"/>
              </a:lnSpc>
              <a:defRPr/>
            </a:pPr>
            <a:r>
              <a:rPr lang="en-US" sz="1500" b="0" u="none" strike="noStrike">
                <a:solidFill>
                  <a:srgbClr val="35228B"/>
                </a:solidFill>
                <a:latin typeface="Poppins"/>
                <a:ea typeface="Poppins"/>
              </a:rPr>
              <a:t>Kesimpulan utama:</a:t>
            </a:r>
            <a:endParaRPr lang="en-US" sz="15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780"/>
              </a:lnSpc>
              <a:defRPr/>
            </a:pPr>
            <a:r>
              <a:rPr lang="en-US" sz="1500" b="0" u="none" strike="noStrike">
                <a:solidFill>
                  <a:srgbClr val="35228B"/>
                </a:solidFill>
                <a:latin typeface="Poppins"/>
                <a:ea typeface="Poppins"/>
              </a:rPr>
              <a:t>Bisnis saat ini berada dalam fase growth, namun perlu penguatan sistem agar dapat scale secara stabil dan berkelanjutan. Bisnis masih bergantung pada ads dan Channel organik belum optimal</a:t>
            </a:r>
            <a:endParaRPr lang="en-US" sz="15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780"/>
              </a:lnSpc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9124897" name="TextBox 3"/>
          <p:cNvSpPr/>
          <p:nvPr/>
        </p:nvSpPr>
        <p:spPr bwMode="auto">
          <a:xfrm>
            <a:off x="768960" y="91800"/>
            <a:ext cx="2823840" cy="5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201"/>
              </a:lnSpc>
              <a:defRPr/>
            </a:pPr>
            <a:r>
              <a:rPr lang="en-US" sz="3000" b="1" u="none" strike="noStrike">
                <a:solidFill>
                  <a:srgbClr val="FF7158"/>
                </a:solidFill>
                <a:latin typeface="Poppins Bold"/>
                <a:ea typeface="Poppins Bold"/>
              </a:rPr>
              <a:t>Kesimpulan</a:t>
            </a:r>
            <a:endParaRPr lang="en-US" sz="30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804546" name="TextBox 2"/>
          <p:cNvSpPr/>
          <p:nvPr/>
        </p:nvSpPr>
        <p:spPr bwMode="auto">
          <a:xfrm>
            <a:off x="245160" y="743400"/>
            <a:ext cx="8653320" cy="176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324000" lvl="1" indent="-162000" defTabSz="914400">
              <a:lnSpc>
                <a:spcPts val="1780"/>
              </a:lnSpc>
              <a:buClr>
                <a:srgbClr val="35228B"/>
              </a:buClr>
              <a:buFont typeface="Arial"/>
              <a:buChar char="•"/>
              <a:defRPr/>
            </a:pPr>
            <a:r>
              <a:rPr lang="en-US" sz="1500" b="0" u="none" strike="noStrike">
                <a:solidFill>
                  <a:srgbClr val="35228B"/>
                </a:solidFill>
                <a:latin typeface="Poppins"/>
                <a:ea typeface="Poppins"/>
              </a:rPr>
              <a:t>Scaling Ads dengan Struktur yang Lebih Optimal</a:t>
            </a:r>
            <a:endParaRPr lang="en-US" sz="1500" b="0" u="none" strike="noStrike">
              <a:solidFill>
                <a:srgbClr val="000000"/>
              </a:solidFill>
              <a:latin typeface="Arial"/>
            </a:endParaRPr>
          </a:p>
          <a:p>
            <a:pPr marL="324000" lvl="1" indent="-162000" defTabSz="914400">
              <a:lnSpc>
                <a:spcPts val="1780"/>
              </a:lnSpc>
              <a:buClr>
                <a:srgbClr val="35228B"/>
              </a:buClr>
              <a:buFont typeface="Arial"/>
              <a:buChar char="•"/>
              <a:defRPr/>
            </a:pPr>
            <a:r>
              <a:rPr lang="en-US" sz="1500" b="0" u="none" strike="noStrike">
                <a:solidFill>
                  <a:srgbClr val="35228B"/>
                </a:solidFill>
                <a:latin typeface="Poppins"/>
                <a:ea typeface="Poppins"/>
              </a:rPr>
              <a:t>Diversifikasi Produk (Tambah Hero Product)</a:t>
            </a:r>
            <a:endParaRPr lang="en-US" sz="1500" b="0" u="none" strike="noStrike">
              <a:solidFill>
                <a:srgbClr val="000000"/>
              </a:solidFill>
              <a:latin typeface="Arial"/>
            </a:endParaRPr>
          </a:p>
          <a:p>
            <a:pPr marL="324000" lvl="1" indent="-162000" defTabSz="914400">
              <a:lnSpc>
                <a:spcPts val="1780"/>
              </a:lnSpc>
              <a:buClr>
                <a:srgbClr val="35228B"/>
              </a:buClr>
              <a:buFont typeface="Arial"/>
              <a:buChar char="•"/>
              <a:defRPr/>
            </a:pPr>
            <a:r>
              <a:rPr lang="en-US" sz="1500" b="0" u="none" strike="noStrike">
                <a:solidFill>
                  <a:srgbClr val="35228B"/>
                </a:solidFill>
                <a:latin typeface="Poppins"/>
                <a:ea typeface="Poppins"/>
              </a:rPr>
              <a:t>Meningkatkan AOV melalui Bundling &amp; Upsell</a:t>
            </a:r>
            <a:endParaRPr lang="en-US" sz="1500" b="0" u="none" strike="noStrike">
              <a:solidFill>
                <a:srgbClr val="000000"/>
              </a:solidFill>
              <a:latin typeface="Arial"/>
            </a:endParaRPr>
          </a:p>
          <a:p>
            <a:pPr marL="324000" lvl="1" indent="-162000" defTabSz="914400">
              <a:lnSpc>
                <a:spcPts val="1780"/>
              </a:lnSpc>
              <a:buClr>
                <a:srgbClr val="35228B"/>
              </a:buClr>
              <a:buFont typeface="Arial"/>
              <a:buChar char="•"/>
              <a:defRPr/>
            </a:pPr>
            <a:r>
              <a:rPr lang="en-US" sz="1500" b="0" u="none" strike="noStrike">
                <a:solidFill>
                  <a:srgbClr val="35228B"/>
                </a:solidFill>
                <a:latin typeface="Poppins"/>
                <a:ea typeface="Poppins"/>
              </a:rPr>
              <a:t>Mengaktifkan Channel Organik (Video &amp; Live)</a:t>
            </a:r>
            <a:endParaRPr lang="en-US" sz="1500" b="0" u="none" strike="noStrike">
              <a:solidFill>
                <a:srgbClr val="000000"/>
              </a:solidFill>
              <a:latin typeface="Arial"/>
            </a:endParaRPr>
          </a:p>
          <a:p>
            <a:pPr marL="324000" lvl="1" indent="-162000" defTabSz="914400">
              <a:lnSpc>
                <a:spcPts val="1780"/>
              </a:lnSpc>
              <a:buClr>
                <a:srgbClr val="35228B"/>
              </a:buClr>
              <a:buFont typeface="Arial"/>
              <a:buChar char="•"/>
              <a:defRPr/>
            </a:pPr>
            <a:r>
              <a:rPr lang="en-US" sz="1500" b="0" u="none" strike="noStrike">
                <a:solidFill>
                  <a:srgbClr val="35228B"/>
                </a:solidFill>
                <a:latin typeface="Poppins"/>
                <a:ea typeface="Poppins"/>
              </a:rPr>
              <a:t>Scale Affiliate sebagai Traffic Engine Baru</a:t>
            </a:r>
            <a:endParaRPr lang="en-US" sz="1500" b="0" u="none" strike="noStrike">
              <a:solidFill>
                <a:srgbClr val="000000"/>
              </a:solidFill>
              <a:latin typeface="Arial"/>
            </a:endParaRPr>
          </a:p>
          <a:p>
            <a:pPr marL="324000" lvl="1" indent="-162000" defTabSz="914400">
              <a:lnSpc>
                <a:spcPts val="1780"/>
              </a:lnSpc>
              <a:buClr>
                <a:srgbClr val="35228B"/>
              </a:buClr>
              <a:buFont typeface="Arial"/>
              <a:buChar char="•"/>
              <a:defRPr/>
            </a:pPr>
            <a:r>
              <a:rPr lang="en-US" sz="1500" b="0" u="none" strike="noStrike">
                <a:solidFill>
                  <a:srgbClr val="35228B"/>
                </a:solidFill>
                <a:latin typeface="Poppins"/>
                <a:ea typeface="Poppins"/>
              </a:rPr>
              <a:t>Pastikan stok produk aman</a:t>
            </a:r>
            <a:endParaRPr lang="en-US" sz="1500" b="0" u="none" strike="noStrike">
              <a:solidFill>
                <a:srgbClr val="000000"/>
              </a:solidFill>
              <a:latin typeface="Arial"/>
            </a:endParaRPr>
          </a:p>
          <a:p>
            <a:pPr marL="324000" lvl="1" indent="-162000" defTabSz="914400">
              <a:lnSpc>
                <a:spcPts val="1780"/>
              </a:lnSpc>
              <a:buClr>
                <a:srgbClr val="35228B"/>
              </a:buClr>
              <a:buFont typeface="Arial"/>
              <a:buChar char="•"/>
              <a:defRPr/>
            </a:pPr>
            <a:r>
              <a:rPr lang="en-US" sz="1500" b="0" u="none" strike="noStrike">
                <a:solidFill>
                  <a:srgbClr val="35228B"/>
                </a:solidFill>
                <a:latin typeface="Poppins"/>
                <a:ea typeface="Poppins"/>
              </a:rPr>
              <a:t>Lakukan Broadcast di hari H event payday</a:t>
            </a:r>
            <a:endParaRPr lang="en-US" sz="15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780"/>
              </a:lnSpc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1048926" name="TextBox 3"/>
          <p:cNvSpPr/>
          <p:nvPr/>
        </p:nvSpPr>
        <p:spPr bwMode="auto">
          <a:xfrm>
            <a:off x="514439" y="122040"/>
            <a:ext cx="2823840" cy="5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201"/>
              </a:lnSpc>
              <a:defRPr/>
            </a:pPr>
            <a:r>
              <a:rPr lang="en-US" sz="3000" b="1" u="none" strike="noStrike">
                <a:solidFill>
                  <a:srgbClr val="FF7158"/>
                </a:solidFill>
                <a:latin typeface="Poppins Bold"/>
                <a:ea typeface="Poppins Bold"/>
              </a:rPr>
              <a:t>Next Step</a:t>
            </a:r>
            <a:endParaRPr lang="en-US" sz="30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715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2847222" name="Freeform 2"/>
          <p:cNvSpPr/>
          <p:nvPr/>
        </p:nvSpPr>
        <p:spPr bwMode="auto">
          <a:xfrm>
            <a:off x="672480" y="4298040"/>
            <a:ext cx="6133320" cy="572400"/>
          </a:xfrm>
          <a:custGeom>
            <a:avLst/>
            <a:gdLst>
              <a:gd name="textAreaLeft" fmla="*/ 0 w 6133320"/>
              <a:gd name="textAreaRight" fmla="*/ 6133680 w 6133320"/>
              <a:gd name="textAreaTop" fmla="*/ 0 h 572400"/>
              <a:gd name="textAreaBottom" fmla="*/ 572760 h 572400"/>
            </a:gdLst>
            <a:ahLst/>
            <a:cxnLst/>
            <a:rect l="textAreaLeft" t="textAreaTop" r="textAreaRight" b="textAreaBottom"/>
            <a:pathLst>
              <a:path w="6133500" h="572700" fill="norm" stroke="1" extrusionOk="0">
                <a:moveTo>
                  <a:pt x="0" y="0"/>
                </a:moveTo>
                <a:lnTo>
                  <a:pt x="6133500" y="0"/>
                </a:lnTo>
                <a:lnTo>
                  <a:pt x="6133500" y="572700"/>
                </a:lnTo>
                <a:lnTo>
                  <a:pt x="0" y="5727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49752" name="TextBox 3"/>
          <p:cNvSpPr/>
          <p:nvPr/>
        </p:nvSpPr>
        <p:spPr bwMode="auto">
          <a:xfrm>
            <a:off x="758160" y="4389840"/>
            <a:ext cx="206856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201"/>
              </a:lnSpc>
              <a:defRPr/>
            </a:pPr>
            <a:r>
              <a:rPr lang="en-US" sz="3000" b="1" u="none" strike="noStrike">
                <a:solidFill>
                  <a:srgbClr val="FFFFFF"/>
                </a:solidFill>
                <a:latin typeface="Poppins Bold"/>
                <a:ea typeface="Poppins Bold"/>
              </a:rPr>
              <a:t>Thank You</a:t>
            </a:r>
            <a:endParaRPr lang="en-US" sz="3000" b="0" u="none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ONLYOFFICE/9.3.1.8</Application>
  <PresentationFormat>On-screen Show (4:3)</PresentationFormat>
  <Paragraphs>0</Paragraphs>
  <Slides>17</Slides>
  <Notes>17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Monthly Report Kaluna (April)</dc:title>
  <dc:subject/>
  <dc:creator/>
  <dc:description/>
  <dc:identifier>DAHHogpStdE</dc:identifier>
  <dc:language>en-US</dc:language>
  <cp:lastModifiedBy/>
  <cp:revision>4</cp:revision>
  <dcterms:created xsi:type="dcterms:W3CDTF">2006-08-16T00:00:00Z</dcterms:created>
  <dcterms:modified xsi:type="dcterms:W3CDTF">2026-05-13T03:03:01Z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